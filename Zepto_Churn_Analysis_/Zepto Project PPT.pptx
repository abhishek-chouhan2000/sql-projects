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1850"/>
    <a:srgbClr val="B807FF"/>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85" d="100"/>
          <a:sy n="85" d="100"/>
        </p:scale>
        <p:origin x="45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184DA70-C731-4C70-880D-CCD4705E623C}" type="datetime1">
              <a:rPr lang="en-US" smtClean="0"/>
              <a:t>02/16/26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6474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8070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6371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02/16/26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098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02/16/26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780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02/16/26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2620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02/16/26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87993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02/16/26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5434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02/16/26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024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02/16/26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391621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81463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97173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3204170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2D6E202-B606-4609-B914-27C9371A1F6D}" type="datetime1">
              <a:rPr lang="en-US" smtClean="0"/>
              <a:t>02/16/26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308297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2D6E202-B606-4609-B914-27C9371A1F6D}" type="datetime1">
              <a:rPr lang="en-US" smtClean="0"/>
              <a:t>02/16/26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0075628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612A279-0833-481D-8C56-F67FD0AC6C50}"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259003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587DA83-5663-4C9C-B9AA-0B40A3DAFF81}" type="datetime1">
              <a:rPr lang="en-US" smtClean="0"/>
              <a:t>02/16/26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5023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62D6E202-B606-4609-B914-27C9371A1F6D}" type="datetime1">
              <a:rPr lang="en-US" smtClean="0"/>
              <a:t>02/16/26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829884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41CBA86-A695-4B47-9D5F-77F9697C2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353175" cy="6858000"/>
          </a:xfrm>
          <a:prstGeom prst="rect">
            <a:avLst/>
          </a:prstGeom>
        </p:spPr>
      </p:pic>
      <p:pic>
        <p:nvPicPr>
          <p:cNvPr id="23" name="Picture 22">
            <a:extLst>
              <a:ext uri="{FF2B5EF4-FFF2-40B4-BE49-F238E27FC236}">
                <a16:creationId xmlns:a16="http://schemas.microsoft.com/office/drawing/2014/main" id="{27516DC9-92B6-4F47-ABF4-5339D2CA0F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3891" y="21717"/>
            <a:ext cx="2314575" cy="2314575"/>
          </a:xfrm>
          <a:prstGeom prst="rect">
            <a:avLst/>
          </a:prstGeom>
        </p:spPr>
      </p:pic>
      <p:sp>
        <p:nvSpPr>
          <p:cNvPr id="25" name="TextBox 24">
            <a:extLst>
              <a:ext uri="{FF2B5EF4-FFF2-40B4-BE49-F238E27FC236}">
                <a16:creationId xmlns:a16="http://schemas.microsoft.com/office/drawing/2014/main" id="{79D3CD56-BA6E-4A77-938E-B9ADA5BEF29B}"/>
              </a:ext>
            </a:extLst>
          </p:cNvPr>
          <p:cNvSpPr txBox="1"/>
          <p:nvPr/>
        </p:nvSpPr>
        <p:spPr>
          <a:xfrm>
            <a:off x="6445902" y="701950"/>
            <a:ext cx="5934078" cy="954107"/>
          </a:xfrm>
          <a:prstGeom prst="rect">
            <a:avLst/>
          </a:prstGeom>
          <a:noFill/>
        </p:spPr>
        <p:txBody>
          <a:bodyPr wrap="square" rtlCol="0">
            <a:spAutoFit/>
          </a:bodyPr>
          <a:lstStyle/>
          <a:p>
            <a:r>
              <a:rPr lang="en-US" sz="2800" b="1" dirty="0">
                <a:solidFill>
                  <a:schemeClr val="bg1"/>
                </a:solidFill>
                <a:latin typeface="Arial Black" panose="020B0A04020102020204" pitchFamily="34" charset="0"/>
              </a:rPr>
              <a:t>Customer Churn Analysis &amp; Revenue Impact Study</a:t>
            </a:r>
          </a:p>
        </p:txBody>
      </p:sp>
      <p:sp>
        <p:nvSpPr>
          <p:cNvPr id="5" name="TextBox 4">
            <a:extLst>
              <a:ext uri="{FF2B5EF4-FFF2-40B4-BE49-F238E27FC236}">
                <a16:creationId xmlns:a16="http://schemas.microsoft.com/office/drawing/2014/main" id="{65D979AE-5C17-41C0-8FED-1B3D174F9F3F}"/>
              </a:ext>
            </a:extLst>
          </p:cNvPr>
          <p:cNvSpPr txBox="1"/>
          <p:nvPr/>
        </p:nvSpPr>
        <p:spPr>
          <a:xfrm>
            <a:off x="6448147" y="151680"/>
            <a:ext cx="4829175" cy="523220"/>
          </a:xfrm>
          <a:prstGeom prst="rect">
            <a:avLst/>
          </a:prstGeom>
          <a:noFill/>
        </p:spPr>
        <p:txBody>
          <a:bodyPr wrap="square" rtlCol="0">
            <a:spAutoFit/>
          </a:bodyPr>
          <a:lstStyle/>
          <a:p>
            <a:r>
              <a:rPr lang="en-US" sz="2800" b="1" dirty="0">
                <a:solidFill>
                  <a:schemeClr val="bg1"/>
                </a:solidFill>
                <a:latin typeface="Candara" panose="020E0502030303020204" pitchFamily="34" charset="0"/>
              </a:rPr>
              <a:t>PROJECT TITLE :- </a:t>
            </a:r>
          </a:p>
        </p:txBody>
      </p:sp>
      <p:sp>
        <p:nvSpPr>
          <p:cNvPr id="7" name="TextBox 6">
            <a:extLst>
              <a:ext uri="{FF2B5EF4-FFF2-40B4-BE49-F238E27FC236}">
                <a16:creationId xmlns:a16="http://schemas.microsoft.com/office/drawing/2014/main" id="{4766C2C9-F1C7-40A9-BA26-1B4F5314299E}"/>
              </a:ext>
            </a:extLst>
          </p:cNvPr>
          <p:cNvSpPr txBox="1"/>
          <p:nvPr/>
        </p:nvSpPr>
        <p:spPr>
          <a:xfrm>
            <a:off x="6445902" y="1942730"/>
            <a:ext cx="2509560" cy="523220"/>
          </a:xfrm>
          <a:prstGeom prst="rect">
            <a:avLst/>
          </a:prstGeom>
          <a:noFill/>
        </p:spPr>
        <p:txBody>
          <a:bodyPr wrap="square" rtlCol="0">
            <a:spAutoFit/>
          </a:bodyPr>
          <a:lstStyle/>
          <a:p>
            <a:r>
              <a:rPr lang="en-US" sz="2800" b="1" dirty="0">
                <a:solidFill>
                  <a:schemeClr val="bg1"/>
                </a:solidFill>
                <a:latin typeface="Arial Black" panose="020B0A04020102020204" pitchFamily="34" charset="0"/>
              </a:rPr>
              <a:t>Tools Used:</a:t>
            </a:r>
          </a:p>
        </p:txBody>
      </p:sp>
      <p:sp>
        <p:nvSpPr>
          <p:cNvPr id="10" name="TextBox 9">
            <a:extLst>
              <a:ext uri="{FF2B5EF4-FFF2-40B4-BE49-F238E27FC236}">
                <a16:creationId xmlns:a16="http://schemas.microsoft.com/office/drawing/2014/main" id="{F329A30F-714E-4E44-ADBE-85ABEC7DF41A}"/>
              </a:ext>
            </a:extLst>
          </p:cNvPr>
          <p:cNvSpPr txBox="1"/>
          <p:nvPr/>
        </p:nvSpPr>
        <p:spPr>
          <a:xfrm>
            <a:off x="6541434" y="2465950"/>
            <a:ext cx="4036919" cy="1015663"/>
          </a:xfrm>
          <a:prstGeom prst="rect">
            <a:avLst/>
          </a:prstGeom>
          <a:noFill/>
        </p:spPr>
        <p:txBody>
          <a:bodyPr wrap="square">
            <a:spAutoFit/>
          </a:bodyPr>
          <a:lstStyle/>
          <a:p>
            <a:pPr marL="285750" indent="-285750">
              <a:buFont typeface="Arial" panose="020B0604020202020204" pitchFamily="34" charset="0"/>
              <a:buChar char="•"/>
            </a:pPr>
            <a:r>
              <a:rPr lang="en-US" sz="2000" b="1" dirty="0">
                <a:solidFill>
                  <a:schemeClr val="bg1"/>
                </a:solidFill>
                <a:latin typeface="Arial Black" panose="020B0A04020102020204" pitchFamily="34" charset="0"/>
              </a:rPr>
              <a:t>SQL (MySQL)</a:t>
            </a:r>
          </a:p>
          <a:p>
            <a:pPr marL="285750" indent="-285750">
              <a:buFont typeface="Arial" panose="020B0604020202020204" pitchFamily="34" charset="0"/>
              <a:buChar char="•"/>
            </a:pPr>
            <a:r>
              <a:rPr lang="en-US" sz="2000" b="1" dirty="0">
                <a:solidFill>
                  <a:schemeClr val="bg1"/>
                </a:solidFill>
                <a:latin typeface="Arial Black" panose="020B0A04020102020204" pitchFamily="34" charset="0"/>
              </a:rPr>
              <a:t>Data Modeling</a:t>
            </a:r>
          </a:p>
          <a:p>
            <a:pPr marL="285750" indent="-285750">
              <a:buFont typeface="Arial" panose="020B0604020202020204" pitchFamily="34" charset="0"/>
              <a:buChar char="•"/>
            </a:pPr>
            <a:r>
              <a:rPr lang="en-US" sz="2000" b="1" dirty="0">
                <a:solidFill>
                  <a:schemeClr val="bg1"/>
                </a:solidFill>
                <a:latin typeface="Arial Black" panose="020B0A04020102020204" pitchFamily="34" charset="0"/>
              </a:rPr>
              <a:t>Segmentation Logic</a:t>
            </a:r>
          </a:p>
        </p:txBody>
      </p:sp>
      <p:sp>
        <p:nvSpPr>
          <p:cNvPr id="12" name="TextBox 11">
            <a:extLst>
              <a:ext uri="{FF2B5EF4-FFF2-40B4-BE49-F238E27FC236}">
                <a16:creationId xmlns:a16="http://schemas.microsoft.com/office/drawing/2014/main" id="{57346723-C667-4C9B-9A54-CE694522DEEF}"/>
              </a:ext>
            </a:extLst>
          </p:cNvPr>
          <p:cNvSpPr txBox="1"/>
          <p:nvPr/>
        </p:nvSpPr>
        <p:spPr>
          <a:xfrm>
            <a:off x="6541434" y="3717282"/>
            <a:ext cx="3059766" cy="523220"/>
          </a:xfrm>
          <a:prstGeom prst="rect">
            <a:avLst/>
          </a:prstGeom>
          <a:noFill/>
        </p:spPr>
        <p:txBody>
          <a:bodyPr wrap="square">
            <a:spAutoFit/>
          </a:bodyPr>
          <a:lstStyle/>
          <a:p>
            <a:r>
              <a:rPr lang="en-US" sz="2800" b="1" dirty="0">
                <a:solidFill>
                  <a:schemeClr val="bg1"/>
                </a:solidFill>
                <a:latin typeface="Arial Black" panose="020B0A04020102020204" pitchFamily="34" charset="0"/>
              </a:rPr>
              <a:t>Focus Areas:</a:t>
            </a:r>
          </a:p>
        </p:txBody>
      </p:sp>
      <p:sp>
        <p:nvSpPr>
          <p:cNvPr id="14" name="TextBox 13">
            <a:extLst>
              <a:ext uri="{FF2B5EF4-FFF2-40B4-BE49-F238E27FC236}">
                <a16:creationId xmlns:a16="http://schemas.microsoft.com/office/drawing/2014/main" id="{BAD65B1F-174D-4457-9150-AFB9566F7159}"/>
              </a:ext>
            </a:extLst>
          </p:cNvPr>
          <p:cNvSpPr txBox="1"/>
          <p:nvPr/>
        </p:nvSpPr>
        <p:spPr>
          <a:xfrm>
            <a:off x="6541434" y="4291506"/>
            <a:ext cx="5148542" cy="1323439"/>
          </a:xfrm>
          <a:prstGeom prst="rect">
            <a:avLst/>
          </a:prstGeom>
          <a:noFill/>
        </p:spPr>
        <p:txBody>
          <a:bodyPr wrap="square">
            <a:spAutoFit/>
          </a:bodyPr>
          <a:lstStyle/>
          <a:p>
            <a:pPr marL="457200" indent="-457200">
              <a:buFont typeface="Arial" panose="020B0604020202020204" pitchFamily="34" charset="0"/>
              <a:buChar char="•"/>
            </a:pPr>
            <a:r>
              <a:rPr lang="en-US" sz="2000" b="1" dirty="0">
                <a:solidFill>
                  <a:schemeClr val="bg1"/>
                </a:solidFill>
                <a:latin typeface="Arial Black" panose="020B0A04020102020204" pitchFamily="34" charset="0"/>
              </a:rPr>
              <a:t>Revenue Impact </a:t>
            </a:r>
          </a:p>
          <a:p>
            <a:pPr marL="457200" indent="-457200">
              <a:buFont typeface="Arial" panose="020B0604020202020204" pitchFamily="34" charset="0"/>
              <a:buChar char="•"/>
            </a:pPr>
            <a:r>
              <a:rPr lang="en-US" sz="2000" b="1" dirty="0">
                <a:solidFill>
                  <a:schemeClr val="bg1"/>
                </a:solidFill>
                <a:latin typeface="Arial Black" panose="020B0A04020102020204" pitchFamily="34" charset="0"/>
              </a:rPr>
              <a:t>Cohort Analysis </a:t>
            </a:r>
          </a:p>
          <a:p>
            <a:pPr marL="457200" indent="-457200">
              <a:buFont typeface="Arial" panose="020B0604020202020204" pitchFamily="34" charset="0"/>
              <a:buChar char="•"/>
            </a:pPr>
            <a:r>
              <a:rPr lang="en-US" sz="2000" b="1" dirty="0">
                <a:solidFill>
                  <a:schemeClr val="bg1"/>
                </a:solidFill>
                <a:latin typeface="Arial Black" panose="020B0A04020102020204" pitchFamily="34" charset="0"/>
              </a:rPr>
              <a:t>Risk Segmentation</a:t>
            </a:r>
          </a:p>
          <a:p>
            <a:pPr marL="457200" indent="-457200">
              <a:buFont typeface="Arial" panose="020B0604020202020204" pitchFamily="34" charset="0"/>
              <a:buChar char="•"/>
            </a:pPr>
            <a:r>
              <a:rPr lang="en-US" sz="2000" b="1" dirty="0">
                <a:solidFill>
                  <a:schemeClr val="bg1"/>
                </a:solidFill>
                <a:latin typeface="Arial Black" panose="020B0A04020102020204" pitchFamily="34" charset="0"/>
              </a:rPr>
              <a:t>Experience Correlation</a:t>
            </a: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F38B6C-658A-4343-B255-E64F55543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936376"/>
          </a:xfrm>
          <a:prstGeom prst="rect">
            <a:avLst/>
          </a:prstGeom>
        </p:spPr>
      </p:pic>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19" name="TextBox 18">
            <a:extLst>
              <a:ext uri="{FF2B5EF4-FFF2-40B4-BE49-F238E27FC236}">
                <a16:creationId xmlns:a16="http://schemas.microsoft.com/office/drawing/2014/main" id="{6DD0B45E-1641-4604-8A50-0A2A2E1413C7}"/>
              </a:ext>
            </a:extLst>
          </p:cNvPr>
          <p:cNvSpPr txBox="1"/>
          <p:nvPr/>
        </p:nvSpPr>
        <p:spPr>
          <a:xfrm>
            <a:off x="3110753" y="2096851"/>
            <a:ext cx="6096000" cy="461665"/>
          </a:xfrm>
          <a:prstGeom prst="rect">
            <a:avLst/>
          </a:prstGeom>
          <a:noFill/>
        </p:spPr>
        <p:txBody>
          <a:bodyPr wrap="square">
            <a:spAutoFit/>
          </a:bodyPr>
          <a:lstStyle/>
          <a:p>
            <a:pPr algn="ctr"/>
            <a:r>
              <a:rPr lang="en-US" sz="2400" b="1" dirty="0">
                <a:solidFill>
                  <a:schemeClr val="bg1"/>
                </a:solidFill>
                <a:latin typeface="Arial Black" panose="020B0A04020102020204" pitchFamily="34" charset="0"/>
              </a:rPr>
              <a:t>BUSINESS PROBLEM</a:t>
            </a:r>
          </a:p>
        </p:txBody>
      </p:sp>
      <p:sp>
        <p:nvSpPr>
          <p:cNvPr id="21" name="TextBox 20">
            <a:extLst>
              <a:ext uri="{FF2B5EF4-FFF2-40B4-BE49-F238E27FC236}">
                <a16:creationId xmlns:a16="http://schemas.microsoft.com/office/drawing/2014/main" id="{7765E4FA-E55C-4FC7-A2B9-75D1F1E01B2A}"/>
              </a:ext>
            </a:extLst>
          </p:cNvPr>
          <p:cNvSpPr txBox="1"/>
          <p:nvPr/>
        </p:nvSpPr>
        <p:spPr>
          <a:xfrm>
            <a:off x="475130" y="2799728"/>
            <a:ext cx="6096000" cy="3539430"/>
          </a:xfrm>
          <a:prstGeom prst="rect">
            <a:avLst/>
          </a:prstGeom>
          <a:noFill/>
        </p:spPr>
        <p:txBody>
          <a:bodyPr wrap="square">
            <a:spAutoFit/>
          </a:bodyPr>
          <a:lstStyle/>
          <a:p>
            <a:r>
              <a:rPr lang="en-US" sz="2000" b="1" dirty="0">
                <a:solidFill>
                  <a:schemeClr val="bg1"/>
                </a:solidFill>
                <a:latin typeface="Arial Black" panose="020B0A04020102020204" pitchFamily="34" charset="0"/>
              </a:rPr>
              <a:t>Quick commerce platforms operate in :</a:t>
            </a:r>
          </a:p>
          <a:p>
            <a:endParaRPr lang="en-US" sz="2000"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rPr>
              <a:t>Highly competitive markets</a:t>
            </a:r>
          </a:p>
          <a:p>
            <a:pPr>
              <a:buFont typeface="Arial" panose="020B0604020202020204" pitchFamily="34" charset="0"/>
              <a:buChar char="•"/>
            </a:pPr>
            <a:r>
              <a:rPr lang="en-US" b="1" dirty="0">
                <a:solidFill>
                  <a:schemeClr val="bg1"/>
                </a:solidFill>
              </a:rPr>
              <a:t>Low switching cost environment</a:t>
            </a:r>
          </a:p>
          <a:p>
            <a:pPr>
              <a:buFont typeface="Arial" panose="020B0604020202020204" pitchFamily="34" charset="0"/>
              <a:buChar char="•"/>
            </a:pPr>
            <a:r>
              <a:rPr lang="en-US" b="1" dirty="0">
                <a:solidFill>
                  <a:schemeClr val="bg1"/>
                </a:solidFill>
              </a:rPr>
              <a:t>High customer acquisition cost</a:t>
            </a:r>
          </a:p>
          <a:p>
            <a:endParaRPr lang="en-US" b="1" dirty="0">
              <a:solidFill>
                <a:schemeClr val="bg1"/>
              </a:solidFill>
            </a:endParaRPr>
          </a:p>
          <a:p>
            <a:r>
              <a:rPr lang="en-US" sz="2000" b="1" dirty="0">
                <a:solidFill>
                  <a:schemeClr val="bg1"/>
                </a:solidFill>
                <a:latin typeface="Arial Black" panose="020B0A04020102020204" pitchFamily="34" charset="0"/>
              </a:rPr>
              <a:t>Core Challenge:</a:t>
            </a:r>
          </a:p>
          <a:p>
            <a:endParaRPr lang="en-US" sz="2000" b="1" dirty="0">
              <a:solidFill>
                <a:schemeClr val="bg1"/>
              </a:solidFill>
              <a:latin typeface="Arial Black" panose="020B0A04020102020204" pitchFamily="34" charset="0"/>
            </a:endParaRPr>
          </a:p>
          <a:p>
            <a:r>
              <a:rPr lang="en-US" b="1" dirty="0">
                <a:solidFill>
                  <a:schemeClr val="bg1"/>
                </a:solidFill>
              </a:rPr>
              <a:t>Customers are churning, causing:</a:t>
            </a:r>
          </a:p>
          <a:p>
            <a:pPr>
              <a:buFont typeface="Arial" panose="020B0604020202020204" pitchFamily="34" charset="0"/>
              <a:buChar char="•"/>
            </a:pPr>
            <a:r>
              <a:rPr lang="en-US" b="1" dirty="0">
                <a:solidFill>
                  <a:schemeClr val="bg1"/>
                </a:solidFill>
              </a:rPr>
              <a:t>Revenue loss</a:t>
            </a:r>
          </a:p>
          <a:p>
            <a:pPr>
              <a:buFont typeface="Arial" panose="020B0604020202020204" pitchFamily="34" charset="0"/>
              <a:buChar char="•"/>
            </a:pPr>
            <a:r>
              <a:rPr lang="en-US" b="1" dirty="0">
                <a:solidFill>
                  <a:schemeClr val="bg1"/>
                </a:solidFill>
              </a:rPr>
              <a:t>Reduced customer lifetime value (CLV)</a:t>
            </a:r>
          </a:p>
          <a:p>
            <a:pPr>
              <a:buFont typeface="Arial" panose="020B0604020202020204" pitchFamily="34" charset="0"/>
              <a:buChar char="•"/>
            </a:pPr>
            <a:r>
              <a:rPr lang="en-US" b="1" dirty="0">
                <a:solidFill>
                  <a:schemeClr val="bg1"/>
                </a:solidFill>
              </a:rPr>
              <a:t>Increased marketing dependency</a:t>
            </a:r>
          </a:p>
        </p:txBody>
      </p:sp>
      <p:sp>
        <p:nvSpPr>
          <p:cNvPr id="2" name="Rectangle: Rounded Corners 1">
            <a:extLst>
              <a:ext uri="{FF2B5EF4-FFF2-40B4-BE49-F238E27FC236}">
                <a16:creationId xmlns:a16="http://schemas.microsoft.com/office/drawing/2014/main" id="{0F356638-8D2B-491C-B10E-38CA4ECC727C}"/>
              </a:ext>
            </a:extLst>
          </p:cNvPr>
          <p:cNvSpPr/>
          <p:nvPr/>
        </p:nvSpPr>
        <p:spPr>
          <a:xfrm>
            <a:off x="152400" y="2727956"/>
            <a:ext cx="6624918" cy="3932820"/>
          </a:xfrm>
          <a:prstGeom prst="roundRect">
            <a:avLst>
              <a:gd name="adj" fmla="val 7549"/>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6591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F38B6C-658A-4343-B255-E64F55543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936376"/>
          </a:xfrm>
          <a:prstGeom prst="rect">
            <a:avLst/>
          </a:prstGeom>
        </p:spPr>
      </p:pic>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19" name="TextBox 18">
            <a:extLst>
              <a:ext uri="{FF2B5EF4-FFF2-40B4-BE49-F238E27FC236}">
                <a16:creationId xmlns:a16="http://schemas.microsoft.com/office/drawing/2014/main" id="{6DD0B45E-1641-4604-8A50-0A2A2E1413C7}"/>
              </a:ext>
            </a:extLst>
          </p:cNvPr>
          <p:cNvSpPr txBox="1"/>
          <p:nvPr/>
        </p:nvSpPr>
        <p:spPr>
          <a:xfrm>
            <a:off x="3110753" y="2096851"/>
            <a:ext cx="6096000" cy="461665"/>
          </a:xfrm>
          <a:prstGeom prst="rect">
            <a:avLst/>
          </a:prstGeom>
          <a:noFill/>
        </p:spPr>
        <p:txBody>
          <a:bodyPr wrap="square">
            <a:spAutoFit/>
          </a:bodyPr>
          <a:lstStyle/>
          <a:p>
            <a:pPr algn="ctr"/>
            <a:r>
              <a:rPr lang="en-US" sz="2400" b="1" dirty="0">
                <a:solidFill>
                  <a:schemeClr val="bg1"/>
                </a:solidFill>
                <a:latin typeface="Arial Black" panose="020B0A04020102020204" pitchFamily="34" charset="0"/>
              </a:rPr>
              <a:t>PROJECT OBJECTIVES</a:t>
            </a:r>
          </a:p>
        </p:txBody>
      </p:sp>
      <p:sp>
        <p:nvSpPr>
          <p:cNvPr id="7" name="TextBox 6">
            <a:extLst>
              <a:ext uri="{FF2B5EF4-FFF2-40B4-BE49-F238E27FC236}">
                <a16:creationId xmlns:a16="http://schemas.microsoft.com/office/drawing/2014/main" id="{B598A517-F0D3-4AF3-905D-3E6F1D51857C}"/>
              </a:ext>
            </a:extLst>
          </p:cNvPr>
          <p:cNvSpPr txBox="1"/>
          <p:nvPr/>
        </p:nvSpPr>
        <p:spPr>
          <a:xfrm>
            <a:off x="744071" y="3159258"/>
            <a:ext cx="11178988" cy="2492990"/>
          </a:xfrm>
          <a:prstGeom prst="rect">
            <a:avLst/>
          </a:prstGeom>
          <a:noFill/>
        </p:spPr>
        <p:txBody>
          <a:bodyPr wrap="square">
            <a:spAutoFit/>
          </a:bodyPr>
          <a:lstStyle/>
          <a:p>
            <a:r>
              <a:rPr lang="en-US" sz="2000" dirty="0">
                <a:solidFill>
                  <a:schemeClr val="bg1"/>
                </a:solidFill>
                <a:latin typeface="Arial Black" panose="020B0A04020102020204" pitchFamily="34" charset="0"/>
              </a:rPr>
              <a:t>Project Objectives :- </a:t>
            </a:r>
          </a:p>
          <a:p>
            <a:endParaRPr lang="en-US" sz="2400" dirty="0">
              <a:solidFill>
                <a:schemeClr val="bg1"/>
              </a:solidFill>
              <a:latin typeface="Arial Black" panose="020B0A04020102020204" pitchFamily="34" charset="0"/>
            </a:endParaRPr>
          </a:p>
          <a:p>
            <a:pPr marL="285750" indent="-285750">
              <a:buFont typeface="Arial" panose="020B0604020202020204" pitchFamily="34" charset="0"/>
              <a:buChar char="•"/>
            </a:pPr>
            <a:r>
              <a:rPr lang="en-US" dirty="0">
                <a:solidFill>
                  <a:schemeClr val="bg1"/>
                </a:solidFill>
                <a:latin typeface="Arial Black" panose="020B0A04020102020204" pitchFamily="34" charset="0"/>
              </a:rPr>
              <a:t>Measure overall churn rate</a:t>
            </a:r>
          </a:p>
          <a:p>
            <a:pPr marL="285750" indent="-285750">
              <a:buFont typeface="Arial" panose="020B0604020202020204" pitchFamily="34" charset="0"/>
              <a:buChar char="•"/>
            </a:pPr>
            <a:r>
              <a:rPr lang="en-US" dirty="0">
                <a:solidFill>
                  <a:schemeClr val="bg1"/>
                </a:solidFill>
                <a:latin typeface="Arial Black" panose="020B0A04020102020204" pitchFamily="34" charset="0"/>
              </a:rPr>
              <a:t>Quantify revenue impact of churn</a:t>
            </a:r>
          </a:p>
          <a:p>
            <a:pPr marL="285750" indent="-285750">
              <a:buFont typeface="Arial" panose="020B0604020202020204" pitchFamily="34" charset="0"/>
              <a:buChar char="•"/>
            </a:pPr>
            <a:r>
              <a:rPr lang="en-US" dirty="0">
                <a:solidFill>
                  <a:schemeClr val="bg1"/>
                </a:solidFill>
                <a:latin typeface="Arial Black" panose="020B0A04020102020204" pitchFamily="34" charset="0"/>
              </a:rPr>
              <a:t>Perform cohort-based retention analysis</a:t>
            </a:r>
          </a:p>
          <a:p>
            <a:pPr marL="285750" indent="-285750">
              <a:buFont typeface="Arial" panose="020B0604020202020204" pitchFamily="34" charset="0"/>
              <a:buChar char="•"/>
            </a:pPr>
            <a:r>
              <a:rPr lang="en-US" dirty="0">
                <a:solidFill>
                  <a:schemeClr val="bg1"/>
                </a:solidFill>
                <a:latin typeface="Arial Black" panose="020B0A04020102020204" pitchFamily="34" charset="0"/>
              </a:rPr>
              <a:t>Segment users into churn risk groups</a:t>
            </a:r>
          </a:p>
          <a:p>
            <a:pPr marL="285750" indent="-285750">
              <a:buFont typeface="Arial" panose="020B0604020202020204" pitchFamily="34" charset="0"/>
              <a:buChar char="•"/>
            </a:pPr>
            <a:r>
              <a:rPr lang="en-US" dirty="0">
                <a:solidFill>
                  <a:schemeClr val="bg1"/>
                </a:solidFill>
                <a:latin typeface="Arial Black" panose="020B0A04020102020204" pitchFamily="34" charset="0"/>
              </a:rPr>
              <a:t>Identify experience-related churn drivers Provide data-driven retention recommendations</a:t>
            </a:r>
          </a:p>
        </p:txBody>
      </p:sp>
      <p:sp>
        <p:nvSpPr>
          <p:cNvPr id="8" name="Rectangle: Rounded Corners 7">
            <a:extLst>
              <a:ext uri="{FF2B5EF4-FFF2-40B4-BE49-F238E27FC236}">
                <a16:creationId xmlns:a16="http://schemas.microsoft.com/office/drawing/2014/main" id="{1456D193-802C-49E7-8AD6-1DC69ED1223B}"/>
              </a:ext>
            </a:extLst>
          </p:cNvPr>
          <p:cNvSpPr/>
          <p:nvPr/>
        </p:nvSpPr>
        <p:spPr>
          <a:xfrm>
            <a:off x="744071" y="2718991"/>
            <a:ext cx="9502588" cy="2973598"/>
          </a:xfrm>
          <a:prstGeom prst="roundRect">
            <a:avLst>
              <a:gd name="adj" fmla="val 7549"/>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7520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F38B6C-658A-4343-B255-E64F55543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936376"/>
          </a:xfrm>
          <a:prstGeom prst="rect">
            <a:avLst/>
          </a:prstGeom>
        </p:spPr>
      </p:pic>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19" name="TextBox 18">
            <a:extLst>
              <a:ext uri="{FF2B5EF4-FFF2-40B4-BE49-F238E27FC236}">
                <a16:creationId xmlns:a16="http://schemas.microsoft.com/office/drawing/2014/main" id="{6DD0B45E-1641-4604-8A50-0A2A2E1413C7}"/>
              </a:ext>
            </a:extLst>
          </p:cNvPr>
          <p:cNvSpPr txBox="1"/>
          <p:nvPr/>
        </p:nvSpPr>
        <p:spPr>
          <a:xfrm>
            <a:off x="3110753" y="2069956"/>
            <a:ext cx="6096000" cy="461665"/>
          </a:xfrm>
          <a:prstGeom prst="rect">
            <a:avLst/>
          </a:prstGeom>
          <a:noFill/>
        </p:spPr>
        <p:txBody>
          <a:bodyPr wrap="square">
            <a:spAutoFit/>
          </a:bodyPr>
          <a:lstStyle/>
          <a:p>
            <a:pPr algn="ctr"/>
            <a:r>
              <a:rPr lang="en-US" sz="2400" b="1" dirty="0">
                <a:solidFill>
                  <a:schemeClr val="bg1"/>
                </a:solidFill>
                <a:latin typeface="Arial Black" panose="020B0A04020102020204" pitchFamily="34" charset="0"/>
              </a:rPr>
              <a:t>DATASET OVERVIEW</a:t>
            </a:r>
          </a:p>
        </p:txBody>
      </p:sp>
      <p:sp>
        <p:nvSpPr>
          <p:cNvPr id="10" name="TextBox 9">
            <a:extLst>
              <a:ext uri="{FF2B5EF4-FFF2-40B4-BE49-F238E27FC236}">
                <a16:creationId xmlns:a16="http://schemas.microsoft.com/office/drawing/2014/main" id="{02B0BDE9-5AC8-43B5-8635-3752179E2A1A}"/>
              </a:ext>
            </a:extLst>
          </p:cNvPr>
          <p:cNvSpPr txBox="1"/>
          <p:nvPr/>
        </p:nvSpPr>
        <p:spPr>
          <a:xfrm>
            <a:off x="941294" y="2631801"/>
            <a:ext cx="6723528" cy="1785104"/>
          </a:xfrm>
          <a:prstGeom prst="rect">
            <a:avLst/>
          </a:prstGeom>
          <a:noFill/>
        </p:spPr>
        <p:txBody>
          <a:bodyPr wrap="square">
            <a:spAutoFit/>
          </a:bodyPr>
          <a:lstStyle/>
          <a:p>
            <a:r>
              <a:rPr lang="en-US" sz="2000" b="1" dirty="0">
                <a:solidFill>
                  <a:schemeClr val="bg1"/>
                </a:solidFill>
                <a:latin typeface="Arial Black" panose="020B0A04020102020204" pitchFamily="34" charset="0"/>
              </a:rPr>
              <a:t>5 Core Tables Used:</a:t>
            </a:r>
          </a:p>
          <a:p>
            <a:pPr marL="285750" indent="-285750">
              <a:buFont typeface="Arial" panose="020B0604020202020204" pitchFamily="34" charset="0"/>
              <a:buChar char="•"/>
            </a:pPr>
            <a:r>
              <a:rPr lang="en-US" b="1" dirty="0">
                <a:solidFill>
                  <a:schemeClr val="bg1"/>
                </a:solidFill>
                <a:latin typeface="Arial Black" panose="020B0A04020102020204" pitchFamily="34" charset="0"/>
              </a:rPr>
              <a:t>Users</a:t>
            </a:r>
          </a:p>
          <a:p>
            <a:pPr marL="285750" indent="-285750">
              <a:buFont typeface="Arial" panose="020B0604020202020204" pitchFamily="34" charset="0"/>
              <a:buChar char="•"/>
            </a:pPr>
            <a:r>
              <a:rPr lang="en-US" b="1" dirty="0">
                <a:solidFill>
                  <a:schemeClr val="bg1"/>
                </a:solidFill>
                <a:latin typeface="Arial Black" panose="020B0A04020102020204" pitchFamily="34" charset="0"/>
              </a:rPr>
              <a:t>Orders</a:t>
            </a:r>
          </a:p>
          <a:p>
            <a:pPr marL="285750" indent="-285750">
              <a:buFont typeface="Arial" panose="020B0604020202020204" pitchFamily="34" charset="0"/>
              <a:buChar char="•"/>
            </a:pPr>
            <a:r>
              <a:rPr lang="en-US" b="1" dirty="0">
                <a:solidFill>
                  <a:schemeClr val="bg1"/>
                </a:solidFill>
                <a:latin typeface="Arial Black" panose="020B0A04020102020204" pitchFamily="34" charset="0"/>
              </a:rPr>
              <a:t>Order Items</a:t>
            </a:r>
          </a:p>
          <a:p>
            <a:pPr marL="285750" indent="-285750">
              <a:buFont typeface="Arial" panose="020B0604020202020204" pitchFamily="34" charset="0"/>
              <a:buChar char="•"/>
            </a:pPr>
            <a:r>
              <a:rPr lang="en-US" b="1" dirty="0">
                <a:solidFill>
                  <a:schemeClr val="bg1"/>
                </a:solidFill>
                <a:latin typeface="Arial Black" panose="020B0A04020102020204" pitchFamily="34" charset="0"/>
              </a:rPr>
              <a:t>User Activity</a:t>
            </a:r>
          </a:p>
          <a:p>
            <a:pPr marL="285750" indent="-285750">
              <a:buFont typeface="Arial" panose="020B0604020202020204" pitchFamily="34" charset="0"/>
              <a:buChar char="•"/>
            </a:pPr>
            <a:r>
              <a:rPr lang="en-US" b="1" dirty="0">
                <a:solidFill>
                  <a:schemeClr val="bg1"/>
                </a:solidFill>
                <a:latin typeface="Arial Black" panose="020B0A04020102020204" pitchFamily="34" charset="0"/>
              </a:rPr>
              <a:t>Support Tickets</a:t>
            </a:r>
          </a:p>
        </p:txBody>
      </p:sp>
      <p:sp>
        <p:nvSpPr>
          <p:cNvPr id="11" name="TextBox 10">
            <a:extLst>
              <a:ext uri="{FF2B5EF4-FFF2-40B4-BE49-F238E27FC236}">
                <a16:creationId xmlns:a16="http://schemas.microsoft.com/office/drawing/2014/main" id="{1966B4A9-83DE-44DC-A689-01EBB4B7AEC3}"/>
              </a:ext>
            </a:extLst>
          </p:cNvPr>
          <p:cNvSpPr txBox="1"/>
          <p:nvPr/>
        </p:nvSpPr>
        <p:spPr>
          <a:xfrm>
            <a:off x="941294" y="4537039"/>
            <a:ext cx="6096000" cy="1785104"/>
          </a:xfrm>
          <a:prstGeom prst="rect">
            <a:avLst/>
          </a:prstGeom>
          <a:noFill/>
        </p:spPr>
        <p:txBody>
          <a:bodyPr wrap="square">
            <a:spAutoFit/>
          </a:bodyPr>
          <a:lstStyle/>
          <a:p>
            <a:r>
              <a:rPr lang="en-US" sz="2000" b="1" dirty="0">
                <a:solidFill>
                  <a:schemeClr val="bg1"/>
                </a:solidFill>
                <a:latin typeface="Arial Black" panose="020B0A04020102020204" pitchFamily="34" charset="0"/>
              </a:rPr>
              <a:t>Data Volume:</a:t>
            </a:r>
          </a:p>
          <a:p>
            <a:pPr>
              <a:buFont typeface="Arial" panose="020B0604020202020204" pitchFamily="34" charset="0"/>
              <a:buChar char="•"/>
            </a:pPr>
            <a:r>
              <a:rPr lang="en-US" b="1" dirty="0">
                <a:solidFill>
                  <a:schemeClr val="bg1"/>
                </a:solidFill>
                <a:latin typeface="Arial Black" panose="020B0A04020102020204" pitchFamily="34" charset="0"/>
              </a:rPr>
              <a:t> 5,000 Users</a:t>
            </a:r>
          </a:p>
          <a:p>
            <a:pPr>
              <a:buFont typeface="Arial" panose="020B0604020202020204" pitchFamily="34" charset="0"/>
              <a:buChar char="•"/>
            </a:pPr>
            <a:r>
              <a:rPr lang="en-US" b="1" dirty="0">
                <a:solidFill>
                  <a:schemeClr val="bg1"/>
                </a:solidFill>
                <a:latin typeface="Arial Black" panose="020B0A04020102020204" pitchFamily="34" charset="0"/>
              </a:rPr>
              <a:t> 20,000 Orders</a:t>
            </a:r>
          </a:p>
          <a:p>
            <a:pPr>
              <a:buFont typeface="Arial" panose="020B0604020202020204" pitchFamily="34" charset="0"/>
              <a:buChar char="•"/>
            </a:pPr>
            <a:r>
              <a:rPr lang="en-US" b="1" dirty="0">
                <a:solidFill>
                  <a:schemeClr val="bg1"/>
                </a:solidFill>
                <a:latin typeface="Arial Black" panose="020B0A04020102020204" pitchFamily="34" charset="0"/>
              </a:rPr>
              <a:t> 35,000 Order Items</a:t>
            </a:r>
          </a:p>
          <a:p>
            <a:pPr>
              <a:buFont typeface="Arial" panose="020B0604020202020204" pitchFamily="34" charset="0"/>
              <a:buChar char="•"/>
            </a:pPr>
            <a:r>
              <a:rPr lang="en-US" b="1" dirty="0">
                <a:solidFill>
                  <a:schemeClr val="bg1"/>
                </a:solidFill>
                <a:latin typeface="Arial Black" panose="020B0A04020102020204" pitchFamily="34" charset="0"/>
              </a:rPr>
              <a:t> 30,000 Activity Records</a:t>
            </a:r>
          </a:p>
          <a:p>
            <a:pPr>
              <a:buFont typeface="Arial" panose="020B0604020202020204" pitchFamily="34" charset="0"/>
              <a:buChar char="•"/>
            </a:pPr>
            <a:r>
              <a:rPr lang="en-US" b="1" dirty="0">
                <a:solidFill>
                  <a:schemeClr val="bg1"/>
                </a:solidFill>
                <a:latin typeface="Arial Black" panose="020B0A04020102020204" pitchFamily="34" charset="0"/>
              </a:rPr>
              <a:t> 4,000 Support Tickets</a:t>
            </a:r>
          </a:p>
        </p:txBody>
      </p:sp>
      <p:sp>
        <p:nvSpPr>
          <p:cNvPr id="12" name="Rectangle: Rounded Corners 11">
            <a:extLst>
              <a:ext uri="{FF2B5EF4-FFF2-40B4-BE49-F238E27FC236}">
                <a16:creationId xmlns:a16="http://schemas.microsoft.com/office/drawing/2014/main" id="{78DC4D44-58B1-4CFA-92E8-AD1132AB9E9E}"/>
              </a:ext>
            </a:extLst>
          </p:cNvPr>
          <p:cNvSpPr/>
          <p:nvPr/>
        </p:nvSpPr>
        <p:spPr>
          <a:xfrm>
            <a:off x="403412" y="2531621"/>
            <a:ext cx="4993341" cy="4039508"/>
          </a:xfrm>
          <a:prstGeom prst="roundRect">
            <a:avLst>
              <a:gd name="adj" fmla="val 7549"/>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2383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AF38B6C-658A-4343-B255-E64F55543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936376"/>
          </a:xfrm>
          <a:prstGeom prst="rect">
            <a:avLst/>
          </a:prstGeom>
        </p:spPr>
      </p:pic>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19" name="TextBox 18">
            <a:extLst>
              <a:ext uri="{FF2B5EF4-FFF2-40B4-BE49-F238E27FC236}">
                <a16:creationId xmlns:a16="http://schemas.microsoft.com/office/drawing/2014/main" id="{6DD0B45E-1641-4604-8A50-0A2A2E1413C7}"/>
              </a:ext>
            </a:extLst>
          </p:cNvPr>
          <p:cNvSpPr txBox="1"/>
          <p:nvPr/>
        </p:nvSpPr>
        <p:spPr>
          <a:xfrm>
            <a:off x="3227295" y="1936376"/>
            <a:ext cx="6096000" cy="523220"/>
          </a:xfrm>
          <a:prstGeom prst="rect">
            <a:avLst/>
          </a:prstGeom>
          <a:noFill/>
        </p:spPr>
        <p:txBody>
          <a:bodyPr wrap="square">
            <a:spAutoFit/>
          </a:bodyPr>
          <a:lstStyle/>
          <a:p>
            <a:pPr algn="ctr"/>
            <a:r>
              <a:rPr lang="en-US" sz="2800" b="1" dirty="0">
                <a:solidFill>
                  <a:schemeClr val="bg1"/>
                </a:solidFill>
                <a:latin typeface="Arial Black" panose="020B0A04020102020204" pitchFamily="34" charset="0"/>
              </a:rPr>
              <a:t>DATA MODEL &amp; ER DIAGRAM</a:t>
            </a:r>
          </a:p>
        </p:txBody>
      </p:sp>
      <p:sp>
        <p:nvSpPr>
          <p:cNvPr id="13" name="TextBox 12">
            <a:extLst>
              <a:ext uri="{FF2B5EF4-FFF2-40B4-BE49-F238E27FC236}">
                <a16:creationId xmlns:a16="http://schemas.microsoft.com/office/drawing/2014/main" id="{E22A6FB7-1291-4EEC-9F64-50CB8C7995D9}"/>
              </a:ext>
            </a:extLst>
          </p:cNvPr>
          <p:cNvSpPr txBox="1"/>
          <p:nvPr/>
        </p:nvSpPr>
        <p:spPr>
          <a:xfrm>
            <a:off x="98612" y="2659957"/>
            <a:ext cx="4052047" cy="3785652"/>
          </a:xfrm>
          <a:prstGeom prst="rect">
            <a:avLst/>
          </a:prstGeom>
          <a:noFill/>
        </p:spPr>
        <p:txBody>
          <a:bodyPr wrap="square">
            <a:spAutoFit/>
          </a:bodyPr>
          <a:lstStyle/>
          <a:p>
            <a:r>
              <a:rPr lang="en-US" sz="2000" b="1" dirty="0">
                <a:solidFill>
                  <a:schemeClr val="bg1"/>
                </a:solidFill>
                <a:latin typeface="Arial Black" panose="020B0A04020102020204" pitchFamily="34" charset="0"/>
              </a:rPr>
              <a:t>Entity Relationships:</a:t>
            </a:r>
          </a:p>
          <a:p>
            <a:pPr algn="ctr"/>
            <a:r>
              <a:rPr lang="en-US" sz="2000" b="1" dirty="0">
                <a:solidFill>
                  <a:schemeClr val="bg1"/>
                </a:solidFill>
                <a:latin typeface="Arial Black" panose="020B0A04020102020204" pitchFamily="34" charset="0"/>
              </a:rPr>
              <a:t>Users</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Orders</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Order Items</a:t>
            </a:r>
          </a:p>
          <a:p>
            <a:pPr algn="ctr"/>
            <a:r>
              <a:rPr lang="en-US" sz="2000" b="1" dirty="0">
                <a:solidFill>
                  <a:schemeClr val="bg1"/>
                </a:solidFill>
                <a:latin typeface="Arial Black" panose="020B0A04020102020204" pitchFamily="34" charset="0"/>
              </a:rPr>
              <a:t>Users</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User Activity</a:t>
            </a:r>
          </a:p>
          <a:p>
            <a:pPr algn="ctr"/>
            <a:r>
              <a:rPr lang="en-US" sz="2000" b="1" dirty="0">
                <a:solidFill>
                  <a:schemeClr val="bg1"/>
                </a:solidFill>
                <a:latin typeface="Arial Black" panose="020B0A04020102020204" pitchFamily="34" charset="0"/>
              </a:rPr>
              <a:t>Users</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a:t>
            </a:r>
            <a:br>
              <a:rPr lang="en-US" sz="2000" b="1" dirty="0">
                <a:solidFill>
                  <a:schemeClr val="bg1"/>
                </a:solidFill>
                <a:latin typeface="Arial Black" panose="020B0A04020102020204" pitchFamily="34" charset="0"/>
              </a:rPr>
            </a:br>
            <a:r>
              <a:rPr lang="en-US" sz="2000" b="1" dirty="0">
                <a:solidFill>
                  <a:schemeClr val="bg1"/>
                </a:solidFill>
                <a:latin typeface="Arial Black" panose="020B0A04020102020204" pitchFamily="34" charset="0"/>
              </a:rPr>
              <a:t>Support Tickets</a:t>
            </a:r>
          </a:p>
        </p:txBody>
      </p:sp>
      <p:sp>
        <p:nvSpPr>
          <p:cNvPr id="14" name="Rectangle: Rounded Corners 13">
            <a:extLst>
              <a:ext uri="{FF2B5EF4-FFF2-40B4-BE49-F238E27FC236}">
                <a16:creationId xmlns:a16="http://schemas.microsoft.com/office/drawing/2014/main" id="{DC29577A-3925-4E2B-A6AA-789D4CC13BD9}"/>
              </a:ext>
            </a:extLst>
          </p:cNvPr>
          <p:cNvSpPr/>
          <p:nvPr/>
        </p:nvSpPr>
        <p:spPr>
          <a:xfrm>
            <a:off x="98613" y="2533029"/>
            <a:ext cx="4446494" cy="4039508"/>
          </a:xfrm>
          <a:prstGeom prst="roundRect">
            <a:avLst>
              <a:gd name="adj" fmla="val 7549"/>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72E29A18-3AB5-4376-86A4-CE6254BB145B}"/>
              </a:ext>
            </a:extLst>
          </p:cNvPr>
          <p:cNvSpPr/>
          <p:nvPr/>
        </p:nvSpPr>
        <p:spPr>
          <a:xfrm>
            <a:off x="5006789" y="2533029"/>
            <a:ext cx="5858436" cy="4039508"/>
          </a:xfrm>
          <a:prstGeom prst="roundRect">
            <a:avLst>
              <a:gd name="adj" fmla="val 7549"/>
            </a:avLst>
          </a:prstGeom>
          <a:no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ABAE78C-C85B-4E83-9810-7784CD7033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4534" y="2707768"/>
            <a:ext cx="5605183" cy="3737841"/>
          </a:xfrm>
          <a:prstGeom prst="rect">
            <a:avLst/>
          </a:prstGeom>
        </p:spPr>
      </p:pic>
    </p:spTree>
    <p:extLst>
      <p:ext uri="{BB962C8B-B14F-4D97-AF65-F5344CB8AC3E}">
        <p14:creationId xmlns:p14="http://schemas.microsoft.com/office/powerpoint/2010/main" val="2941183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564777"/>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330803"/>
            <a:ext cx="7270376" cy="369332"/>
          </a:xfrm>
          <a:prstGeom prst="rect">
            <a:avLst/>
          </a:prstGeom>
          <a:noFill/>
        </p:spPr>
        <p:txBody>
          <a:bodyPr wrap="square">
            <a:spAutoFit/>
          </a:bodyPr>
          <a:lstStyle/>
          <a:p>
            <a:r>
              <a:rPr lang="en-US" dirty="0">
                <a:ln w="0"/>
                <a:effectLst>
                  <a:outerShdw blurRad="38100" dist="19050" dir="2700000" algn="tl" rotWithShape="0">
                    <a:schemeClr val="dk1">
                      <a:alpha val="40000"/>
                    </a:schemeClr>
                  </a:outerShdw>
                </a:effectLst>
                <a:latin typeface="Arial Black" panose="020B0A04020102020204" pitchFamily="34" charset="0"/>
              </a:rPr>
              <a:t>Q1. What is the total revenue lost due to churned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2"/>
            <a:ext cx="6051176" cy="1290028"/>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69E8EBB-C79D-440F-AF82-65F30D4C6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8030" y="1757970"/>
            <a:ext cx="5801358" cy="971686"/>
          </a:xfrm>
          <a:prstGeom prst="rect">
            <a:avLst/>
          </a:prstGeom>
        </p:spPr>
      </p:pic>
      <p:sp>
        <p:nvSpPr>
          <p:cNvPr id="17" name="Rectangle: Rounded Corners 16">
            <a:extLst>
              <a:ext uri="{FF2B5EF4-FFF2-40B4-BE49-F238E27FC236}">
                <a16:creationId xmlns:a16="http://schemas.microsoft.com/office/drawing/2014/main" id="{25489B35-B517-4E65-846E-BC6210825D3B}"/>
              </a:ext>
            </a:extLst>
          </p:cNvPr>
          <p:cNvSpPr/>
          <p:nvPr/>
        </p:nvSpPr>
        <p:spPr>
          <a:xfrm>
            <a:off x="8373035" y="3147501"/>
            <a:ext cx="2653554" cy="1056946"/>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520016"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Churned users have contributed approximately ₹397K in historical revenue, representing a significant revenue leakage risk.</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indicates that improving retention among churn-prone users can directly recover substantial revenue and strengthen overall business sustainability.</a:t>
            </a:r>
          </a:p>
        </p:txBody>
      </p:sp>
      <p:pic>
        <p:nvPicPr>
          <p:cNvPr id="27" name="Picture 26">
            <a:extLst>
              <a:ext uri="{FF2B5EF4-FFF2-40B4-BE49-F238E27FC236}">
                <a16:creationId xmlns:a16="http://schemas.microsoft.com/office/drawing/2014/main" id="{430BE641-05B2-49D4-93CF-FEE52A0C71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3784" y="3223473"/>
            <a:ext cx="2372056" cy="905001"/>
          </a:xfrm>
          <a:prstGeom prst="rect">
            <a:avLst/>
          </a:prstGeom>
        </p:spPr>
      </p:pic>
    </p:spTree>
    <p:extLst>
      <p:ext uri="{BB962C8B-B14F-4D97-AF65-F5344CB8AC3E}">
        <p14:creationId xmlns:p14="http://schemas.microsoft.com/office/powerpoint/2010/main" val="602865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 What percentage of total revenue comes from churned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1"/>
            <a:ext cx="7126942" cy="1823429"/>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73035" y="3147501"/>
            <a:ext cx="2519083" cy="1056946"/>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466228"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Approximately 58.6% of total revenue has been generated by churned users, indicating significant revenue concentration among disengaged customers.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highlights a major retention gap and underscores the urgent need for proactive churn prevention strategies.</a:t>
            </a:r>
          </a:p>
        </p:txBody>
      </p:sp>
      <p:pic>
        <p:nvPicPr>
          <p:cNvPr id="4" name="Picture 3">
            <a:extLst>
              <a:ext uri="{FF2B5EF4-FFF2-40B4-BE49-F238E27FC236}">
                <a16:creationId xmlns:a16="http://schemas.microsoft.com/office/drawing/2014/main" id="{1D61DA9C-46CC-46F7-A40A-A936CFDB79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365" y="1725704"/>
            <a:ext cx="6858957" cy="1562318"/>
          </a:xfrm>
          <a:prstGeom prst="rect">
            <a:avLst/>
          </a:prstGeom>
        </p:spPr>
      </p:pic>
      <p:pic>
        <p:nvPicPr>
          <p:cNvPr id="13" name="Picture 12">
            <a:extLst>
              <a:ext uri="{FF2B5EF4-FFF2-40B4-BE49-F238E27FC236}">
                <a16:creationId xmlns:a16="http://schemas.microsoft.com/office/drawing/2014/main" id="{7F783147-7945-4EBC-B031-08FF125287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46548" y="3209184"/>
            <a:ext cx="2372056" cy="933580"/>
          </a:xfrm>
          <a:prstGeom prst="rect">
            <a:avLst/>
          </a:prstGeom>
        </p:spPr>
      </p:pic>
    </p:spTree>
    <p:extLst>
      <p:ext uri="{BB962C8B-B14F-4D97-AF65-F5344CB8AC3E}">
        <p14:creationId xmlns:p14="http://schemas.microsoft.com/office/powerpoint/2010/main" val="983831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Q3. How much revenue is at risk from High-Risk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2"/>
            <a:ext cx="7126942" cy="1738264"/>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73035" y="3147501"/>
            <a:ext cx="2519083" cy="1056946"/>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466228"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High-Risk users account for approximately ₹397K in revenue currently at risk, representing the largest concentration of potential revenue loss.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Immediate targeted retention strategies for this segment could significantly reduce financial leakage and stabilize recurring revenue.</a:t>
            </a:r>
          </a:p>
        </p:txBody>
      </p:sp>
      <p:pic>
        <p:nvPicPr>
          <p:cNvPr id="5" name="Picture 4">
            <a:extLst>
              <a:ext uri="{FF2B5EF4-FFF2-40B4-BE49-F238E27FC236}">
                <a16:creationId xmlns:a16="http://schemas.microsoft.com/office/drawing/2014/main" id="{FB4F7397-AAE1-4886-A5E3-3D56D32538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792" y="1788956"/>
            <a:ext cx="6968184" cy="1456268"/>
          </a:xfrm>
          <a:prstGeom prst="rect">
            <a:avLst/>
          </a:prstGeom>
        </p:spPr>
      </p:pic>
      <p:pic>
        <p:nvPicPr>
          <p:cNvPr id="11" name="Picture 10">
            <a:extLst>
              <a:ext uri="{FF2B5EF4-FFF2-40B4-BE49-F238E27FC236}">
                <a16:creationId xmlns:a16="http://schemas.microsoft.com/office/drawing/2014/main" id="{C77098AA-836E-42FC-A664-8E19D7AF00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94179" y="3245224"/>
            <a:ext cx="2276793" cy="895475"/>
          </a:xfrm>
          <a:prstGeom prst="rect">
            <a:avLst/>
          </a:prstGeom>
        </p:spPr>
      </p:pic>
    </p:spTree>
    <p:extLst>
      <p:ext uri="{BB962C8B-B14F-4D97-AF65-F5344CB8AC3E}">
        <p14:creationId xmlns:p14="http://schemas.microsoft.com/office/powerpoint/2010/main" val="1518147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Q4. Among churned users, how many belong to the High Value segment?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2"/>
            <a:ext cx="7126942" cy="1648616"/>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73035" y="3147501"/>
            <a:ext cx="2519083" cy="1056946"/>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466228"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 total of 405 High-Value customers have churned, representing a significant loss of premium revenue contributors.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Retaining even a small portion of this segment could materially improve overall revenue performance and customer lifetime value.</a:t>
            </a:r>
          </a:p>
        </p:txBody>
      </p:sp>
      <p:pic>
        <p:nvPicPr>
          <p:cNvPr id="4" name="Picture 3">
            <a:extLst>
              <a:ext uri="{FF2B5EF4-FFF2-40B4-BE49-F238E27FC236}">
                <a16:creationId xmlns:a16="http://schemas.microsoft.com/office/drawing/2014/main" id="{520D237F-7704-4464-95E7-3B171993D9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9604" y="1749003"/>
            <a:ext cx="6914513" cy="1398497"/>
          </a:xfrm>
          <a:prstGeom prst="rect">
            <a:avLst/>
          </a:prstGeom>
        </p:spPr>
      </p:pic>
      <p:pic>
        <p:nvPicPr>
          <p:cNvPr id="12" name="Picture 11">
            <a:extLst>
              <a:ext uri="{FF2B5EF4-FFF2-40B4-BE49-F238E27FC236}">
                <a16:creationId xmlns:a16="http://schemas.microsoft.com/office/drawing/2014/main" id="{E389C112-D2E7-4A4B-8955-4736EB3AD1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4653" y="3223473"/>
            <a:ext cx="2295845" cy="905001"/>
          </a:xfrm>
          <a:prstGeom prst="rect">
            <a:avLst/>
          </a:prstGeom>
        </p:spPr>
      </p:pic>
    </p:spTree>
    <p:extLst>
      <p:ext uri="{BB962C8B-B14F-4D97-AF65-F5344CB8AC3E}">
        <p14:creationId xmlns:p14="http://schemas.microsoft.com/office/powerpoint/2010/main" val="646328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Q5. What is the average order value of churned vs retained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2"/>
            <a:ext cx="7126942" cy="1648616"/>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73035" y="3156465"/>
            <a:ext cx="2519083" cy="1146593"/>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304863"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Churned users have a higher average order value (₹399.78) compared to retained users (₹359.79).</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indicates that higher-spending customers are more likely to churn, creating disproportionate revenue impact.</a:t>
            </a:r>
          </a:p>
        </p:txBody>
      </p:sp>
      <p:pic>
        <p:nvPicPr>
          <p:cNvPr id="5" name="Picture 4">
            <a:extLst>
              <a:ext uri="{FF2B5EF4-FFF2-40B4-BE49-F238E27FC236}">
                <a16:creationId xmlns:a16="http://schemas.microsoft.com/office/drawing/2014/main" id="{F3A014B0-6CE4-445E-9F5C-BF8EF5AC6A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942" y="1747741"/>
            <a:ext cx="6879175" cy="1399760"/>
          </a:xfrm>
          <a:prstGeom prst="rect">
            <a:avLst/>
          </a:prstGeom>
        </p:spPr>
      </p:pic>
      <p:pic>
        <p:nvPicPr>
          <p:cNvPr id="11" name="Picture 10">
            <a:extLst>
              <a:ext uri="{FF2B5EF4-FFF2-40B4-BE49-F238E27FC236}">
                <a16:creationId xmlns:a16="http://schemas.microsoft.com/office/drawing/2014/main" id="{D8F5E414-8659-4DDB-B6CC-F64447B5DC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5600" y="3210902"/>
            <a:ext cx="2333951" cy="1038370"/>
          </a:xfrm>
          <a:prstGeom prst="rect">
            <a:avLst/>
          </a:prstGeom>
        </p:spPr>
      </p:pic>
    </p:spTree>
    <p:extLst>
      <p:ext uri="{BB962C8B-B14F-4D97-AF65-F5344CB8AC3E}">
        <p14:creationId xmlns:p14="http://schemas.microsoft.com/office/powerpoint/2010/main" val="2787378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Q6. What is the total lifetime revenue generated by churned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2"/>
            <a:ext cx="7126942" cy="1648616"/>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73035" y="3156465"/>
            <a:ext cx="2519083" cy="1146593"/>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304863"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Nearly ₹397K in historical lifetime revenue is associated with churned customers, indicating significant value erosion.</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Preventing future churn in high-value segments could materially improve long-term revenue stability.</a:t>
            </a:r>
          </a:p>
        </p:txBody>
      </p:sp>
      <p:pic>
        <p:nvPicPr>
          <p:cNvPr id="4" name="Picture 3">
            <a:extLst>
              <a:ext uri="{FF2B5EF4-FFF2-40B4-BE49-F238E27FC236}">
                <a16:creationId xmlns:a16="http://schemas.microsoft.com/office/drawing/2014/main" id="{B59851DB-32B9-45A2-8BD0-339B624325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012" y="1734607"/>
            <a:ext cx="6945000" cy="1421858"/>
          </a:xfrm>
          <a:prstGeom prst="rect">
            <a:avLst/>
          </a:prstGeom>
        </p:spPr>
      </p:pic>
      <p:pic>
        <p:nvPicPr>
          <p:cNvPr id="12" name="Picture 11">
            <a:extLst>
              <a:ext uri="{FF2B5EF4-FFF2-40B4-BE49-F238E27FC236}">
                <a16:creationId xmlns:a16="http://schemas.microsoft.com/office/drawing/2014/main" id="{AD8BAB81-755D-49C8-9F91-BF68F512C3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5600" y="3254188"/>
            <a:ext cx="2333951" cy="963267"/>
          </a:xfrm>
          <a:prstGeom prst="rect">
            <a:avLst/>
          </a:prstGeom>
        </p:spPr>
      </p:pic>
    </p:spTree>
    <p:extLst>
      <p:ext uri="{BB962C8B-B14F-4D97-AF65-F5344CB8AC3E}">
        <p14:creationId xmlns:p14="http://schemas.microsoft.com/office/powerpoint/2010/main" val="776333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Q7. Which city contributes the highest revenue loss due to churn?</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2"/>
            <a:ext cx="7126942" cy="2060993"/>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28212" y="3156465"/>
            <a:ext cx="2810435" cy="2060993"/>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304863"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Mumbai shows the highest revenue loss due to churn (₹71.6K), followed closely by Hyderabad and Pune.</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indicates that major metro cities contribute disproportionately to churn-related revenue leakage, requiring city-specific retention strategies.</a:t>
            </a:r>
          </a:p>
        </p:txBody>
      </p:sp>
      <p:pic>
        <p:nvPicPr>
          <p:cNvPr id="5" name="Picture 4">
            <a:extLst>
              <a:ext uri="{FF2B5EF4-FFF2-40B4-BE49-F238E27FC236}">
                <a16:creationId xmlns:a16="http://schemas.microsoft.com/office/drawing/2014/main" id="{9AE05E72-F655-463D-AF7F-6294F772E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9053" y="1712854"/>
            <a:ext cx="6962994" cy="1819529"/>
          </a:xfrm>
          <a:prstGeom prst="rect">
            <a:avLst/>
          </a:prstGeom>
        </p:spPr>
      </p:pic>
      <p:pic>
        <p:nvPicPr>
          <p:cNvPr id="11" name="Picture 10">
            <a:extLst>
              <a:ext uri="{FF2B5EF4-FFF2-40B4-BE49-F238E27FC236}">
                <a16:creationId xmlns:a16="http://schemas.microsoft.com/office/drawing/2014/main" id="{3D594C6F-0984-4E14-84E6-9ED2C14B92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2721" y="3285566"/>
            <a:ext cx="2572109" cy="1829055"/>
          </a:xfrm>
          <a:prstGeom prst="rect">
            <a:avLst/>
          </a:prstGeom>
        </p:spPr>
      </p:pic>
    </p:spTree>
    <p:extLst>
      <p:ext uri="{BB962C8B-B14F-4D97-AF65-F5344CB8AC3E}">
        <p14:creationId xmlns:p14="http://schemas.microsoft.com/office/powerpoint/2010/main" val="75983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Q8. What is the retention rate of users grouped by signup month?</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3"/>
            <a:ext cx="7126942" cy="1823428"/>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28213" y="3156465"/>
            <a:ext cx="2519082" cy="2060993"/>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304863"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Cohort retention remains below 40% across all months, highlighting systemic retention challenges rather than isolated performance issues.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Sustained improvements in onboarding and engagement strategies are required to drive long-term retention gains.</a:t>
            </a:r>
          </a:p>
        </p:txBody>
      </p:sp>
      <p:pic>
        <p:nvPicPr>
          <p:cNvPr id="4" name="Picture 3">
            <a:extLst>
              <a:ext uri="{FF2B5EF4-FFF2-40B4-BE49-F238E27FC236}">
                <a16:creationId xmlns:a16="http://schemas.microsoft.com/office/drawing/2014/main" id="{76172EC6-4FB6-4C6C-AB15-A2076C7897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507" y="1737080"/>
            <a:ext cx="6902646" cy="1590897"/>
          </a:xfrm>
          <a:prstGeom prst="rect">
            <a:avLst/>
          </a:prstGeom>
        </p:spPr>
      </p:pic>
      <p:pic>
        <p:nvPicPr>
          <p:cNvPr id="12" name="Picture 11">
            <a:extLst>
              <a:ext uri="{FF2B5EF4-FFF2-40B4-BE49-F238E27FC236}">
                <a16:creationId xmlns:a16="http://schemas.microsoft.com/office/drawing/2014/main" id="{34CB41BE-B62D-4A81-9564-82D1639414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73453" y="3258144"/>
            <a:ext cx="2219635" cy="1857634"/>
          </a:xfrm>
          <a:prstGeom prst="rect">
            <a:avLst/>
          </a:prstGeom>
        </p:spPr>
      </p:pic>
    </p:spTree>
    <p:extLst>
      <p:ext uri="{BB962C8B-B14F-4D97-AF65-F5344CB8AC3E}">
        <p14:creationId xmlns:p14="http://schemas.microsoft.com/office/powerpoint/2010/main" val="1306024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Q9. What percentage of users churn within 30 days of signup?</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33718" y="1605573"/>
            <a:ext cx="7126942" cy="1823428"/>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328213" y="3156466"/>
            <a:ext cx="2519082" cy="1060990"/>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606756"/>
            <a:ext cx="5304863"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Approximately 28.4% of users churn within the first 30 days of signup, indicating significant early-stage disengagement.</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that onboarding experience and initial user engagement play a critical role in long-term retention.</a:t>
            </a:r>
          </a:p>
        </p:txBody>
      </p:sp>
      <p:pic>
        <p:nvPicPr>
          <p:cNvPr id="5" name="Picture 4">
            <a:extLst>
              <a:ext uri="{FF2B5EF4-FFF2-40B4-BE49-F238E27FC236}">
                <a16:creationId xmlns:a16="http://schemas.microsoft.com/office/drawing/2014/main" id="{6208570F-6643-4789-BBC2-7184768019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834" y="1658522"/>
            <a:ext cx="6855353" cy="1703243"/>
          </a:xfrm>
          <a:prstGeom prst="rect">
            <a:avLst/>
          </a:prstGeom>
        </p:spPr>
      </p:pic>
      <p:pic>
        <p:nvPicPr>
          <p:cNvPr id="11" name="Picture 10">
            <a:extLst>
              <a:ext uri="{FF2B5EF4-FFF2-40B4-BE49-F238E27FC236}">
                <a16:creationId xmlns:a16="http://schemas.microsoft.com/office/drawing/2014/main" id="{84E2A7C1-08CC-4DEF-AF77-3B746402DE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44594" y="3236255"/>
            <a:ext cx="2286319" cy="895475"/>
          </a:xfrm>
          <a:prstGeom prst="rect">
            <a:avLst/>
          </a:prstGeom>
        </p:spPr>
      </p:pic>
    </p:spTree>
    <p:extLst>
      <p:ext uri="{BB962C8B-B14F-4D97-AF65-F5344CB8AC3E}">
        <p14:creationId xmlns:p14="http://schemas.microsoft.com/office/powerpoint/2010/main" val="587246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71717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Q10. What is the 60-day retention rate by signup cohort?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2"/>
            <a:ext cx="9511553" cy="1487252"/>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619565" y="3545765"/>
            <a:ext cx="2395816" cy="2066141"/>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7"/>
            <a:ext cx="5966012" cy="1900518"/>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600438"/>
          </a:xfrm>
          <a:prstGeom prst="rect">
            <a:avLst/>
          </a:prstGeom>
          <a:noFill/>
        </p:spPr>
        <p:txBody>
          <a:bodyPr wrap="square">
            <a:spAutoFit/>
          </a:bodyPr>
          <a:lstStyle/>
          <a:p>
            <a:r>
              <a:rPr lang="en-US" sz="1400" b="1" dirty="0">
                <a:solidFill>
                  <a:schemeClr val="bg1"/>
                </a:solidFill>
                <a:latin typeface="Arial Black" panose="020B0A04020102020204" pitchFamily="34" charset="0"/>
              </a:rPr>
              <a:t>60-day retention ranges between 40% and 48% across cohorts, indicating moderate long-term user stickiness.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Recent cohorts (e.g., 2024-04 and 2025-01) show improved retention, suggesting potential improvements in onboarding quality or product experience.</a:t>
            </a:r>
          </a:p>
        </p:txBody>
      </p:sp>
      <p:pic>
        <p:nvPicPr>
          <p:cNvPr id="4" name="Picture 3">
            <a:extLst>
              <a:ext uri="{FF2B5EF4-FFF2-40B4-BE49-F238E27FC236}">
                <a16:creationId xmlns:a16="http://schemas.microsoft.com/office/drawing/2014/main" id="{5AFC8DB1-089D-4E33-AB9D-A14E33A96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127" y="1712220"/>
            <a:ext cx="9297698" cy="1247949"/>
          </a:xfrm>
          <a:prstGeom prst="rect">
            <a:avLst/>
          </a:prstGeom>
        </p:spPr>
      </p:pic>
      <p:pic>
        <p:nvPicPr>
          <p:cNvPr id="12" name="Picture 11">
            <a:extLst>
              <a:ext uri="{FF2B5EF4-FFF2-40B4-BE49-F238E27FC236}">
                <a16:creationId xmlns:a16="http://schemas.microsoft.com/office/drawing/2014/main" id="{8BBEA71C-944A-4978-87C2-A80B4AA879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20546" y="3692228"/>
            <a:ext cx="2200582" cy="1829055"/>
          </a:xfrm>
          <a:prstGeom prst="rect">
            <a:avLst/>
          </a:prstGeom>
        </p:spPr>
      </p:pic>
    </p:spTree>
    <p:extLst>
      <p:ext uri="{BB962C8B-B14F-4D97-AF65-F5344CB8AC3E}">
        <p14:creationId xmlns:p14="http://schemas.microsoft.com/office/powerpoint/2010/main" val="1225518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1"/>
            <a:ext cx="7539317" cy="519954"/>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369332"/>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Q11. Which signup cohort has the highest churn rate?</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2"/>
            <a:ext cx="5602941" cy="1729299"/>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10868" y="3334871"/>
            <a:ext cx="2372285" cy="1900519"/>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948957"/>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600438"/>
          </a:xfrm>
          <a:prstGeom prst="rect">
            <a:avLst/>
          </a:prstGeom>
          <a:noFill/>
        </p:spPr>
        <p:txBody>
          <a:bodyPr wrap="square">
            <a:spAutoFit/>
          </a:bodyPr>
          <a:lstStyle/>
          <a:p>
            <a:r>
              <a:rPr lang="en-US" sz="1400" b="1" dirty="0">
                <a:solidFill>
                  <a:schemeClr val="bg1"/>
                </a:solidFill>
                <a:latin typeface="Arial Black" panose="020B0A04020102020204" pitchFamily="34" charset="0"/>
              </a:rPr>
              <a:t>Cohort-level churn remains consistently high across all signup months, ranging between 64% and 67%, indicating a structural retention challenge rather than a one-time issue.</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The 2024-06 cohort shows the highest churn (67%), suggesting potential acquisition quality or engagement gaps during that period.</a:t>
            </a:r>
          </a:p>
        </p:txBody>
      </p:sp>
      <p:pic>
        <p:nvPicPr>
          <p:cNvPr id="5" name="Picture 4">
            <a:extLst>
              <a:ext uri="{FF2B5EF4-FFF2-40B4-BE49-F238E27FC236}">
                <a16:creationId xmlns:a16="http://schemas.microsoft.com/office/drawing/2014/main" id="{7B72B17B-B7AB-4206-82EA-91517ECACE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01" y="1715290"/>
            <a:ext cx="5394511" cy="1543265"/>
          </a:xfrm>
          <a:prstGeom prst="rect">
            <a:avLst/>
          </a:prstGeom>
        </p:spPr>
      </p:pic>
      <p:pic>
        <p:nvPicPr>
          <p:cNvPr id="11" name="Picture 10">
            <a:extLst>
              <a:ext uri="{FF2B5EF4-FFF2-40B4-BE49-F238E27FC236}">
                <a16:creationId xmlns:a16="http://schemas.microsoft.com/office/drawing/2014/main" id="{0BCD9314-1ECA-4B72-A7EF-FE30446D16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7537" y="3447819"/>
            <a:ext cx="2162477" cy="1733792"/>
          </a:xfrm>
          <a:prstGeom prst="rect">
            <a:avLst/>
          </a:prstGeom>
        </p:spPr>
      </p:pic>
    </p:spTree>
    <p:extLst>
      <p:ext uri="{BB962C8B-B14F-4D97-AF65-F5344CB8AC3E}">
        <p14:creationId xmlns:p14="http://schemas.microsoft.com/office/powerpoint/2010/main" val="3066814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753"/>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Q12. What is the average revenue per cohort (signup month basis)?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2"/>
            <a:ext cx="5871882" cy="150518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435349" y="2973569"/>
            <a:ext cx="2465733" cy="2073560"/>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948957"/>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Average revenue per cohort remains relatively stable between ₹1,329 and ₹1,433, indicating consistent monetization performance across signup periods.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However, despite stable revenue generation, high churn levels suggest revenue sustainability depends heavily on improving retention.</a:t>
            </a:r>
          </a:p>
        </p:txBody>
      </p:sp>
      <p:pic>
        <p:nvPicPr>
          <p:cNvPr id="4" name="Picture 3">
            <a:extLst>
              <a:ext uri="{FF2B5EF4-FFF2-40B4-BE49-F238E27FC236}">
                <a16:creationId xmlns:a16="http://schemas.microsoft.com/office/drawing/2014/main" id="{1484742A-E3BD-41E1-993C-2CF423DBAD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786" y="1714971"/>
            <a:ext cx="5658640" cy="1276528"/>
          </a:xfrm>
          <a:prstGeom prst="rect">
            <a:avLst/>
          </a:prstGeom>
        </p:spPr>
      </p:pic>
      <p:pic>
        <p:nvPicPr>
          <p:cNvPr id="12" name="Picture 11">
            <a:extLst>
              <a:ext uri="{FF2B5EF4-FFF2-40B4-BE49-F238E27FC236}">
                <a16:creationId xmlns:a16="http://schemas.microsoft.com/office/drawing/2014/main" id="{9F4275EF-405D-444C-AB2B-50E9986295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1789" y="3110753"/>
            <a:ext cx="2295845" cy="1800476"/>
          </a:xfrm>
          <a:prstGeom prst="rect">
            <a:avLst/>
          </a:prstGeom>
        </p:spPr>
      </p:pic>
    </p:spTree>
    <p:extLst>
      <p:ext uri="{BB962C8B-B14F-4D97-AF65-F5344CB8AC3E}">
        <p14:creationId xmlns:p14="http://schemas.microsoft.com/office/powerpoint/2010/main" val="1776733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471517"/>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6996954" cy="369332"/>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Q13. How does order frequency differ across cohorts?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2"/>
            <a:ext cx="5871882" cy="150518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498541" y="2973569"/>
            <a:ext cx="2402541" cy="1948957"/>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948957"/>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600438"/>
          </a:xfrm>
          <a:prstGeom prst="rect">
            <a:avLst/>
          </a:prstGeom>
          <a:noFill/>
        </p:spPr>
        <p:txBody>
          <a:bodyPr wrap="square">
            <a:spAutoFit/>
          </a:bodyPr>
          <a:lstStyle/>
          <a:p>
            <a:r>
              <a:rPr lang="en-US" sz="1400" b="1" dirty="0">
                <a:solidFill>
                  <a:schemeClr val="bg1"/>
                </a:solidFill>
                <a:latin typeface="Arial Black" panose="020B0A04020102020204" pitchFamily="34" charset="0"/>
              </a:rPr>
              <a:t>Average order frequency remains stable across cohorts at approximately 2 orders per month, indicating consistent purchase behavior among active users.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However, given high churn rates, sustaining and increasing ordering frequency is critical to improving long-term retention and lifetime value.</a:t>
            </a:r>
          </a:p>
        </p:txBody>
      </p:sp>
      <p:pic>
        <p:nvPicPr>
          <p:cNvPr id="5" name="Picture 4">
            <a:extLst>
              <a:ext uri="{FF2B5EF4-FFF2-40B4-BE49-F238E27FC236}">
                <a16:creationId xmlns:a16="http://schemas.microsoft.com/office/drawing/2014/main" id="{87D4FEF6-1896-470F-A9C1-7FDD146C77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286" y="1700845"/>
            <a:ext cx="5620534" cy="1314633"/>
          </a:xfrm>
          <a:prstGeom prst="rect">
            <a:avLst/>
          </a:prstGeom>
        </p:spPr>
      </p:pic>
      <p:pic>
        <p:nvPicPr>
          <p:cNvPr id="11" name="Picture 10">
            <a:extLst>
              <a:ext uri="{FF2B5EF4-FFF2-40B4-BE49-F238E27FC236}">
                <a16:creationId xmlns:a16="http://schemas.microsoft.com/office/drawing/2014/main" id="{D668CFF9-2057-40D1-91EC-D2B0BDDB80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2275" y="3110753"/>
            <a:ext cx="2181529" cy="1752845"/>
          </a:xfrm>
          <a:prstGeom prst="rect">
            <a:avLst/>
          </a:prstGeom>
        </p:spPr>
      </p:pic>
    </p:spTree>
    <p:extLst>
      <p:ext uri="{BB962C8B-B14F-4D97-AF65-F5344CB8AC3E}">
        <p14:creationId xmlns:p14="http://schemas.microsoft.com/office/powerpoint/2010/main" val="2390687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471517"/>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7265894" cy="369332"/>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Q14. What is the average engagement score by cohort?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2"/>
            <a:ext cx="5871882" cy="150518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498541" y="2973569"/>
            <a:ext cx="2402541" cy="1948957"/>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948957"/>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600438"/>
          </a:xfrm>
          <a:prstGeom prst="rect">
            <a:avLst/>
          </a:prstGeom>
          <a:noFill/>
        </p:spPr>
        <p:txBody>
          <a:bodyPr wrap="square">
            <a:spAutoFit/>
          </a:bodyPr>
          <a:lstStyle/>
          <a:p>
            <a:r>
              <a:rPr lang="en-US" sz="1400" b="1" dirty="0">
                <a:solidFill>
                  <a:schemeClr val="bg1"/>
                </a:solidFill>
                <a:latin typeface="Arial Black" panose="020B0A04020102020204" pitchFamily="34" charset="0"/>
              </a:rPr>
              <a:t>Average order frequency remains stable across cohorts at approximately 2 orders per month, indicating consistent purchase behavior among active users.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However, given high churn rates, sustaining and increasing ordering frequency is critical to improving long-term retention and lifetime value.</a:t>
            </a:r>
          </a:p>
        </p:txBody>
      </p:sp>
      <p:pic>
        <p:nvPicPr>
          <p:cNvPr id="5" name="Picture 4">
            <a:extLst>
              <a:ext uri="{FF2B5EF4-FFF2-40B4-BE49-F238E27FC236}">
                <a16:creationId xmlns:a16="http://schemas.microsoft.com/office/drawing/2014/main" id="{87D4FEF6-1896-470F-A9C1-7FDD146C77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286" y="1700845"/>
            <a:ext cx="5620534" cy="1314633"/>
          </a:xfrm>
          <a:prstGeom prst="rect">
            <a:avLst/>
          </a:prstGeom>
        </p:spPr>
      </p:pic>
      <p:pic>
        <p:nvPicPr>
          <p:cNvPr id="11" name="Picture 10">
            <a:extLst>
              <a:ext uri="{FF2B5EF4-FFF2-40B4-BE49-F238E27FC236}">
                <a16:creationId xmlns:a16="http://schemas.microsoft.com/office/drawing/2014/main" id="{D668CFF9-2057-40D1-91EC-D2B0BDDB80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2275" y="3110753"/>
            <a:ext cx="2181529" cy="1752845"/>
          </a:xfrm>
          <a:prstGeom prst="rect">
            <a:avLst/>
          </a:prstGeom>
        </p:spPr>
      </p:pic>
    </p:spTree>
    <p:extLst>
      <p:ext uri="{BB962C8B-B14F-4D97-AF65-F5344CB8AC3E}">
        <p14:creationId xmlns:p14="http://schemas.microsoft.com/office/powerpoint/2010/main" val="1193954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46331"/>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99447" y="268503"/>
            <a:ext cx="7265894"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Q15. Are newer cohorts churning faster than older cohorts?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2"/>
            <a:ext cx="6884894" cy="2347863"/>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498541" y="2973570"/>
            <a:ext cx="2402541" cy="1230876"/>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604683"/>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Churn rates between new users (61.85%) and old users (63.89%) are relatively similar, indicating that churn is not limited to early-stage users.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a broader, systemic retention issue rather than an onboarding-only problem.</a:t>
            </a:r>
          </a:p>
        </p:txBody>
      </p:sp>
      <p:pic>
        <p:nvPicPr>
          <p:cNvPr id="4" name="Picture 3">
            <a:extLst>
              <a:ext uri="{FF2B5EF4-FFF2-40B4-BE49-F238E27FC236}">
                <a16:creationId xmlns:a16="http://schemas.microsoft.com/office/drawing/2014/main" id="{690146F2-9473-4FB5-A079-61D9341D35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77" y="1685365"/>
            <a:ext cx="6554115" cy="2129685"/>
          </a:xfrm>
          <a:prstGeom prst="rect">
            <a:avLst/>
          </a:prstGeom>
        </p:spPr>
      </p:pic>
      <p:pic>
        <p:nvPicPr>
          <p:cNvPr id="12" name="Picture 11">
            <a:extLst>
              <a:ext uri="{FF2B5EF4-FFF2-40B4-BE49-F238E27FC236}">
                <a16:creationId xmlns:a16="http://schemas.microsoft.com/office/drawing/2014/main" id="{8E0E909C-04E7-40BE-BB22-13D9A39004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3336" y="3055226"/>
            <a:ext cx="2152950" cy="1047896"/>
          </a:xfrm>
          <a:prstGeom prst="rect">
            <a:avLst/>
          </a:prstGeom>
        </p:spPr>
      </p:pic>
    </p:spTree>
    <p:extLst>
      <p:ext uri="{BB962C8B-B14F-4D97-AF65-F5344CB8AC3E}">
        <p14:creationId xmlns:p14="http://schemas.microsoft.com/office/powerpoint/2010/main" val="1866342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510991"/>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169460" y="268005"/>
            <a:ext cx="7539316" cy="369332"/>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Q16. How many users fall into each </a:t>
            </a:r>
            <a:r>
              <a:rPr lang="en-US" dirty="0" err="1">
                <a:ln w="0"/>
                <a:effectLst>
                  <a:outerShdw blurRad="38100" dist="19050" dir="2700000" algn="tl" rotWithShape="0">
                    <a:schemeClr val="dk1">
                      <a:alpha val="40000"/>
                    </a:schemeClr>
                  </a:outerShdw>
                </a:effectLst>
                <a:latin typeface="Arial Black" panose="020B0A04020102020204" pitchFamily="34" charset="0"/>
              </a:rPr>
              <a:t>churn_risk_segment</a:t>
            </a:r>
            <a:r>
              <a:rPr lang="en-US" dirty="0">
                <a:ln w="0"/>
                <a:effectLst>
                  <a:outerShdw blurRad="38100" dist="19050" dir="2700000" algn="tl" rotWithShape="0">
                    <a:schemeClr val="dk1">
                      <a:alpha val="40000"/>
                    </a:schemeClr>
                  </a:outerShdw>
                </a:effectLst>
                <a:latin typeface="Arial Black" panose="020B0A04020102020204" pitchFamily="34" charset="0"/>
              </a:rPr>
              <a: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884894" cy="1027372"/>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498541" y="2973569"/>
            <a:ext cx="2877671" cy="1383277"/>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801907"/>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 significant 63% of users fall into the High-Risk segment, indicating widespread disengagement across the customer base.</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concentration of churn-prone users highlights an urgent need for proactive retention strategies and re-engagement campaigns.</a:t>
            </a:r>
          </a:p>
        </p:txBody>
      </p:sp>
      <p:pic>
        <p:nvPicPr>
          <p:cNvPr id="5" name="Picture 4">
            <a:extLst>
              <a:ext uri="{FF2B5EF4-FFF2-40B4-BE49-F238E27FC236}">
                <a16:creationId xmlns:a16="http://schemas.microsoft.com/office/drawing/2014/main" id="{05C35B8C-6CEE-4307-8332-6388056144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636" y="1731073"/>
            <a:ext cx="6738117" cy="790685"/>
          </a:xfrm>
          <a:prstGeom prst="rect">
            <a:avLst/>
          </a:prstGeom>
        </p:spPr>
      </p:pic>
      <p:pic>
        <p:nvPicPr>
          <p:cNvPr id="11" name="Picture 10">
            <a:extLst>
              <a:ext uri="{FF2B5EF4-FFF2-40B4-BE49-F238E27FC236}">
                <a16:creationId xmlns:a16="http://schemas.microsoft.com/office/drawing/2014/main" id="{B7C110D4-648F-4730-9546-ECD9936D9B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4049" y="3085936"/>
            <a:ext cx="2572109" cy="1181265"/>
          </a:xfrm>
          <a:prstGeom prst="rect">
            <a:avLst/>
          </a:prstGeom>
        </p:spPr>
      </p:pic>
    </p:spTree>
    <p:extLst>
      <p:ext uri="{BB962C8B-B14F-4D97-AF65-F5344CB8AC3E}">
        <p14:creationId xmlns:p14="http://schemas.microsoft.com/office/powerpoint/2010/main" val="1548848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Q17. What is the revenue distribution across risk segments?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884894" cy="1278477"/>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52329" y="2973570"/>
            <a:ext cx="3433483" cy="1428102"/>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604683"/>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High-Risk users contribute approximately 58% of total revenue, representing the largest concentration of financial exposure.</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indicates that revenue stability is heavily dependent on retaining churn-prone customers.</a:t>
            </a:r>
          </a:p>
        </p:txBody>
      </p:sp>
      <p:pic>
        <p:nvPicPr>
          <p:cNvPr id="4" name="Picture 3">
            <a:extLst>
              <a:ext uri="{FF2B5EF4-FFF2-40B4-BE49-F238E27FC236}">
                <a16:creationId xmlns:a16="http://schemas.microsoft.com/office/drawing/2014/main" id="{B5834D86-8921-4C35-B3A4-0D518BA06E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009" y="1668389"/>
            <a:ext cx="6723849" cy="1114581"/>
          </a:xfrm>
          <a:prstGeom prst="rect">
            <a:avLst/>
          </a:prstGeom>
        </p:spPr>
      </p:pic>
      <p:pic>
        <p:nvPicPr>
          <p:cNvPr id="12" name="Picture 11">
            <a:extLst>
              <a:ext uri="{FF2B5EF4-FFF2-40B4-BE49-F238E27FC236}">
                <a16:creationId xmlns:a16="http://schemas.microsoft.com/office/drawing/2014/main" id="{3B8B19DE-66ED-46E9-8C88-A90815B0F5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8840" y="3043897"/>
            <a:ext cx="3229426" cy="1286054"/>
          </a:xfrm>
          <a:prstGeom prst="rect">
            <a:avLst/>
          </a:prstGeom>
        </p:spPr>
      </p:pic>
    </p:spTree>
    <p:extLst>
      <p:ext uri="{BB962C8B-B14F-4D97-AF65-F5344CB8AC3E}">
        <p14:creationId xmlns:p14="http://schemas.microsoft.com/office/powerpoint/2010/main" val="2312237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Q18. What percentage of High-Risk users are High-Value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884894" cy="1604683"/>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52330" y="2973570"/>
            <a:ext cx="2563906" cy="1165412"/>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733515"/>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Approximately 12.8% of High-Risk users belong to the High-Value segment, representing premium customers at immediate risk of churn.</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Retaining even a portion of this segment could deliver disproportionate revenue protection and improved lifetime value.</a:t>
            </a:r>
          </a:p>
        </p:txBody>
      </p:sp>
      <p:pic>
        <p:nvPicPr>
          <p:cNvPr id="5" name="Picture 4">
            <a:extLst>
              <a:ext uri="{FF2B5EF4-FFF2-40B4-BE49-F238E27FC236}">
                <a16:creationId xmlns:a16="http://schemas.microsoft.com/office/drawing/2014/main" id="{7D750D4D-0339-44FB-A82B-1F11D24F74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076" y="1682654"/>
            <a:ext cx="6675889" cy="1428102"/>
          </a:xfrm>
          <a:prstGeom prst="rect">
            <a:avLst/>
          </a:prstGeom>
        </p:spPr>
      </p:pic>
      <p:pic>
        <p:nvPicPr>
          <p:cNvPr id="11" name="Picture 10">
            <a:extLst>
              <a:ext uri="{FF2B5EF4-FFF2-40B4-BE49-F238E27FC236}">
                <a16:creationId xmlns:a16="http://schemas.microsoft.com/office/drawing/2014/main" id="{1FD5B038-E48D-4894-90D1-6604FB89E2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45007" y="3110756"/>
            <a:ext cx="2381582" cy="885949"/>
          </a:xfrm>
          <a:prstGeom prst="rect">
            <a:avLst/>
          </a:prstGeom>
        </p:spPr>
      </p:pic>
    </p:spTree>
    <p:extLst>
      <p:ext uri="{BB962C8B-B14F-4D97-AF65-F5344CB8AC3E}">
        <p14:creationId xmlns:p14="http://schemas.microsoft.com/office/powerpoint/2010/main" val="1799146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Q19. What is the average engagement score by churn risk segment?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651812" cy="1278477"/>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52329" y="2973570"/>
            <a:ext cx="2779057" cy="1428101"/>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733515"/>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Engagement scores are relatively similar across all risk segments, indicating that engagement volume alone is not a strong differentiator of churn risk.</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that other factors such as recency, experience quality, or order frequency may play a larger role in driving churn.</a:t>
            </a:r>
          </a:p>
        </p:txBody>
      </p:sp>
      <p:pic>
        <p:nvPicPr>
          <p:cNvPr id="4" name="Picture 3">
            <a:extLst>
              <a:ext uri="{FF2B5EF4-FFF2-40B4-BE49-F238E27FC236}">
                <a16:creationId xmlns:a16="http://schemas.microsoft.com/office/drawing/2014/main" id="{EA94A66D-9CFD-48D6-9C61-FB99EA7E0C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012" y="1682959"/>
            <a:ext cx="6475763" cy="1076475"/>
          </a:xfrm>
          <a:prstGeom prst="rect">
            <a:avLst/>
          </a:prstGeom>
        </p:spPr>
      </p:pic>
      <p:pic>
        <p:nvPicPr>
          <p:cNvPr id="12" name="Picture 11">
            <a:extLst>
              <a:ext uri="{FF2B5EF4-FFF2-40B4-BE49-F238E27FC236}">
                <a16:creationId xmlns:a16="http://schemas.microsoft.com/office/drawing/2014/main" id="{61B40567-EC38-4E12-9B5D-B281B2F360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2842" y="3086628"/>
            <a:ext cx="2646829" cy="1209844"/>
          </a:xfrm>
          <a:prstGeom prst="rect">
            <a:avLst/>
          </a:prstGeom>
        </p:spPr>
      </p:pic>
    </p:spTree>
    <p:extLst>
      <p:ext uri="{BB962C8B-B14F-4D97-AF65-F5344CB8AC3E}">
        <p14:creationId xmlns:p14="http://schemas.microsoft.com/office/powerpoint/2010/main" val="3591466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Q20. How does order frequency differ between Low-Risk and High-Risk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651812" cy="1278477"/>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52329" y="2973570"/>
            <a:ext cx="2779057" cy="1428101"/>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733515"/>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25" name="TextBox 24">
            <a:extLst>
              <a:ext uri="{FF2B5EF4-FFF2-40B4-BE49-F238E27FC236}">
                <a16:creationId xmlns:a16="http://schemas.microsoft.com/office/drawing/2014/main" id="{5E417A7E-000C-4CC6-BDD8-CADF0A1E08FC}"/>
              </a:ext>
            </a:extLst>
          </p:cNvPr>
          <p:cNvSpPr txBox="1"/>
          <p:nvPr/>
        </p:nvSpPr>
        <p:spPr>
          <a:xfrm>
            <a:off x="1176619" y="4552966"/>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High-Risk users place fewer than 1 order per month on average (0.98), compared to 3.7 orders among Low-Risk users.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Order frequency is a strong behavioral indicator of churn risk, highlighting the importance of habit formation in retention strategy.</a:t>
            </a:r>
          </a:p>
        </p:txBody>
      </p:sp>
      <p:pic>
        <p:nvPicPr>
          <p:cNvPr id="5" name="Picture 4">
            <a:extLst>
              <a:ext uri="{FF2B5EF4-FFF2-40B4-BE49-F238E27FC236}">
                <a16:creationId xmlns:a16="http://schemas.microsoft.com/office/drawing/2014/main" id="{641F756A-E0D9-4318-9CB8-96F12B24C2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822" y="1706573"/>
            <a:ext cx="6500919" cy="1076475"/>
          </a:xfrm>
          <a:prstGeom prst="rect">
            <a:avLst/>
          </a:prstGeom>
        </p:spPr>
      </p:pic>
      <p:pic>
        <p:nvPicPr>
          <p:cNvPr id="11" name="Picture 10">
            <a:extLst>
              <a:ext uri="{FF2B5EF4-FFF2-40B4-BE49-F238E27FC236}">
                <a16:creationId xmlns:a16="http://schemas.microsoft.com/office/drawing/2014/main" id="{86975805-0704-473A-98FA-DFCFD64767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0487" y="3058882"/>
            <a:ext cx="2603326" cy="1257475"/>
          </a:xfrm>
          <a:prstGeom prst="rect">
            <a:avLst/>
          </a:prstGeom>
        </p:spPr>
      </p:pic>
    </p:spTree>
    <p:extLst>
      <p:ext uri="{BB962C8B-B14F-4D97-AF65-F5344CB8AC3E}">
        <p14:creationId xmlns:p14="http://schemas.microsoft.com/office/powerpoint/2010/main" val="2308921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Q21. What is the support ticket count distribution by risk segment?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651812" cy="1278477"/>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52329" y="2973571"/>
            <a:ext cx="2779057" cy="1532728"/>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1686847"/>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pic>
        <p:nvPicPr>
          <p:cNvPr id="4" name="Picture 3">
            <a:extLst>
              <a:ext uri="{FF2B5EF4-FFF2-40B4-BE49-F238E27FC236}">
                <a16:creationId xmlns:a16="http://schemas.microsoft.com/office/drawing/2014/main" id="{EDFAA5F6-2B20-4AD5-AEAE-C7670B30EB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102" y="1720863"/>
            <a:ext cx="6496673" cy="1047896"/>
          </a:xfrm>
          <a:prstGeom prst="rect">
            <a:avLst/>
          </a:prstGeom>
        </p:spPr>
      </p:pic>
      <p:pic>
        <p:nvPicPr>
          <p:cNvPr id="16" name="Picture 15">
            <a:extLst>
              <a:ext uri="{FF2B5EF4-FFF2-40B4-BE49-F238E27FC236}">
                <a16:creationId xmlns:a16="http://schemas.microsoft.com/office/drawing/2014/main" id="{E7D67135-83A0-499F-BEC2-9EDB7D2B28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7697" y="3106245"/>
            <a:ext cx="2648320" cy="1257475"/>
          </a:xfrm>
          <a:prstGeom prst="rect">
            <a:avLst/>
          </a:prstGeom>
        </p:spPr>
      </p:pic>
      <p:sp>
        <p:nvSpPr>
          <p:cNvPr id="22" name="TextBox 21">
            <a:extLst>
              <a:ext uri="{FF2B5EF4-FFF2-40B4-BE49-F238E27FC236}">
                <a16:creationId xmlns:a16="http://schemas.microsoft.com/office/drawing/2014/main" id="{2ED667FE-4B07-45AF-A405-C9288BB411CF}"/>
              </a:ext>
            </a:extLst>
          </p:cNvPr>
          <p:cNvSpPr txBox="1"/>
          <p:nvPr/>
        </p:nvSpPr>
        <p:spPr>
          <a:xfrm>
            <a:off x="1053353" y="4506298"/>
            <a:ext cx="6154270"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Average support ticket count is relatively consistent across all risk segments (~0.8 tickets per user), indicating that support volume alone does not strongly differentiate churn risk.</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that churn may be driven more by behavioral inactivity than by customer support frequency.</a:t>
            </a:r>
          </a:p>
        </p:txBody>
      </p:sp>
    </p:spTree>
    <p:extLst>
      <p:ext uri="{BB962C8B-B14F-4D97-AF65-F5344CB8AC3E}">
        <p14:creationId xmlns:p14="http://schemas.microsoft.com/office/powerpoint/2010/main" val="1656904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Q22. How many Medium-Risk users moved to High-Risk (simulate trend using recency)?</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6651812" cy="1278477"/>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552330" y="3263153"/>
            <a:ext cx="2474260" cy="875830"/>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632756"/>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pic>
        <p:nvPicPr>
          <p:cNvPr id="5" name="Picture 4">
            <a:extLst>
              <a:ext uri="{FF2B5EF4-FFF2-40B4-BE49-F238E27FC236}">
                <a16:creationId xmlns:a16="http://schemas.microsoft.com/office/drawing/2014/main" id="{5E118E7F-9CF5-4CA4-8398-DA605F20BE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664" y="1685906"/>
            <a:ext cx="6437182" cy="1133633"/>
          </a:xfrm>
          <a:prstGeom prst="rect">
            <a:avLst/>
          </a:prstGeom>
        </p:spPr>
      </p:pic>
      <p:pic>
        <p:nvPicPr>
          <p:cNvPr id="11" name="Picture 10">
            <a:extLst>
              <a:ext uri="{FF2B5EF4-FFF2-40B4-BE49-F238E27FC236}">
                <a16:creationId xmlns:a16="http://schemas.microsoft.com/office/drawing/2014/main" id="{66A315B6-3523-464B-ABCA-98F8465924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1571" y="3354198"/>
            <a:ext cx="2305372" cy="666843"/>
          </a:xfrm>
          <a:prstGeom prst="rect">
            <a:avLst/>
          </a:prstGeom>
        </p:spPr>
      </p:pic>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555875"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A total of 677 users fall into the Medium-Risk segment, representing customers at immediate risk of transitioning into High Risk.</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Proactive re-engagement strategies targeting this group could prevent further churn escalation.</a:t>
            </a:r>
          </a:p>
        </p:txBody>
      </p:sp>
    </p:spTree>
    <p:extLst>
      <p:ext uri="{BB962C8B-B14F-4D97-AF65-F5344CB8AC3E}">
        <p14:creationId xmlns:p14="http://schemas.microsoft.com/office/powerpoint/2010/main" val="2989128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Q23. What is the churn rate among users who raised at least one support ticket?</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7924800" cy="1496215"/>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1" y="3452192"/>
            <a:ext cx="2475912" cy="1215459"/>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2063643"/>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555875" cy="1600438"/>
          </a:xfrm>
          <a:prstGeom prst="rect">
            <a:avLst/>
          </a:prstGeom>
          <a:noFill/>
        </p:spPr>
        <p:txBody>
          <a:bodyPr wrap="square">
            <a:spAutoFit/>
          </a:bodyPr>
          <a:lstStyle/>
          <a:p>
            <a:r>
              <a:rPr lang="en-US" sz="1400" dirty="0">
                <a:solidFill>
                  <a:schemeClr val="bg1"/>
                </a:solidFill>
                <a:latin typeface="Arial Black" panose="020B0A04020102020204" pitchFamily="34" charset="0"/>
              </a:rPr>
              <a:t>Churn rates are nearly identical for users with support tickets (63.47%) and without tickets (63.36%), indicating that ticket occurrence alone does not significantly impact churn.</a:t>
            </a:r>
            <a:br>
              <a:rPr lang="en-US" sz="1400" dirty="0">
                <a:solidFill>
                  <a:schemeClr val="bg1"/>
                </a:solidFill>
                <a:latin typeface="Arial Black" panose="020B0A04020102020204" pitchFamily="34" charset="0"/>
              </a:rPr>
            </a:br>
            <a:r>
              <a:rPr lang="en-US" sz="1400" dirty="0">
                <a:solidFill>
                  <a:schemeClr val="bg1"/>
                </a:solidFill>
                <a:latin typeface="Arial Black" panose="020B0A04020102020204" pitchFamily="34" charset="0"/>
              </a:rPr>
              <a:t>This suggests that behavioral inactivity, rather than support interaction volume, is the primary churn driver.</a:t>
            </a:r>
            <a:endParaRPr lang="en-US" sz="1400" b="1" dirty="0">
              <a:solidFill>
                <a:schemeClr val="bg1"/>
              </a:solidFill>
              <a:latin typeface="Arial Black" panose="020B0A04020102020204" pitchFamily="34" charset="0"/>
            </a:endParaRPr>
          </a:p>
        </p:txBody>
      </p:sp>
      <p:pic>
        <p:nvPicPr>
          <p:cNvPr id="4" name="Picture 3">
            <a:extLst>
              <a:ext uri="{FF2B5EF4-FFF2-40B4-BE49-F238E27FC236}">
                <a16:creationId xmlns:a16="http://schemas.microsoft.com/office/drawing/2014/main" id="{58F829A9-599F-4CE7-8C44-F809E2CB51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462" y="1706068"/>
            <a:ext cx="7659169" cy="1276528"/>
          </a:xfrm>
          <a:prstGeom prst="rect">
            <a:avLst/>
          </a:prstGeom>
        </p:spPr>
      </p:pic>
      <p:pic>
        <p:nvPicPr>
          <p:cNvPr id="12" name="Picture 11">
            <a:extLst>
              <a:ext uri="{FF2B5EF4-FFF2-40B4-BE49-F238E27FC236}">
                <a16:creationId xmlns:a16="http://schemas.microsoft.com/office/drawing/2014/main" id="{C7B3E1E1-2E95-4CD4-AF80-3B4DB7C286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4561" y="3533809"/>
            <a:ext cx="2238687" cy="1047896"/>
          </a:xfrm>
          <a:prstGeom prst="rect">
            <a:avLst/>
          </a:prstGeom>
        </p:spPr>
      </p:pic>
    </p:spTree>
    <p:extLst>
      <p:ext uri="{BB962C8B-B14F-4D97-AF65-F5344CB8AC3E}">
        <p14:creationId xmlns:p14="http://schemas.microsoft.com/office/powerpoint/2010/main" val="1326097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Q24. What is the churn rate for users with more than 2 tickets?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4"/>
            <a:ext cx="7709647" cy="1165412"/>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1" y="3452193"/>
            <a:ext cx="2475912" cy="967408"/>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1848201"/>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Users with more than two support tickets show a churn rate of 61.26%, slightly below the overall churn rate.</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indicates that high ticket volume alone does not necessarily increase churn and may reflect engaged users seeking resolution.</a:t>
            </a:r>
          </a:p>
        </p:txBody>
      </p:sp>
      <p:pic>
        <p:nvPicPr>
          <p:cNvPr id="5" name="Picture 4">
            <a:extLst>
              <a:ext uri="{FF2B5EF4-FFF2-40B4-BE49-F238E27FC236}">
                <a16:creationId xmlns:a16="http://schemas.microsoft.com/office/drawing/2014/main" id="{97A9EAD6-DFFC-43FD-9856-F1D7FA9E16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7692" y="1691175"/>
            <a:ext cx="7514989" cy="1019317"/>
          </a:xfrm>
          <a:prstGeom prst="rect">
            <a:avLst/>
          </a:prstGeom>
        </p:spPr>
      </p:pic>
      <p:pic>
        <p:nvPicPr>
          <p:cNvPr id="11" name="Picture 10">
            <a:extLst>
              <a:ext uri="{FF2B5EF4-FFF2-40B4-BE49-F238E27FC236}">
                <a16:creationId xmlns:a16="http://schemas.microsoft.com/office/drawing/2014/main" id="{E916ED17-4503-4F66-BB2C-620D8588FA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27283" y="3516438"/>
            <a:ext cx="2314898" cy="838317"/>
          </a:xfrm>
          <a:prstGeom prst="rect">
            <a:avLst/>
          </a:prstGeom>
        </p:spPr>
      </p:pic>
    </p:spTree>
    <p:extLst>
      <p:ext uri="{BB962C8B-B14F-4D97-AF65-F5344CB8AC3E}">
        <p14:creationId xmlns:p14="http://schemas.microsoft.com/office/powerpoint/2010/main" val="403536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Q25. Does higher </a:t>
            </a:r>
            <a:r>
              <a:rPr lang="en-US" dirty="0" err="1">
                <a:ln w="0"/>
                <a:effectLst>
                  <a:outerShdw blurRad="38100" dist="19050" dir="2700000" algn="tl" rotWithShape="0">
                    <a:schemeClr val="dk1">
                      <a:alpha val="40000"/>
                    </a:schemeClr>
                  </a:outerShdw>
                </a:effectLst>
                <a:latin typeface="Arial Black" panose="020B0A04020102020204" pitchFamily="34" charset="0"/>
              </a:rPr>
              <a:t>avg_delivery_time</a:t>
            </a:r>
            <a:r>
              <a:rPr lang="en-US" dirty="0">
                <a:ln w="0"/>
                <a:effectLst>
                  <a:outerShdw blurRad="38100" dist="19050" dir="2700000" algn="tl" rotWithShape="0">
                    <a:schemeClr val="dk1">
                      <a:alpha val="40000"/>
                    </a:schemeClr>
                  </a:outerShdw>
                </a:effectLst>
                <a:latin typeface="Arial Black" panose="020B0A04020102020204" pitchFamily="34" charset="0"/>
              </a:rPr>
              <a:t> correlate with higher churn?</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7709647" cy="129899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0" y="3452193"/>
            <a:ext cx="2599765" cy="1088478"/>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1712261"/>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555875"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Churned users experience longer average delivery times (25.9 minutes) compared to retained users (23.4 minutes).</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that delivery delays may contribute to user dissatisfaction and increase churn probability.</a:t>
            </a:r>
          </a:p>
        </p:txBody>
      </p:sp>
      <p:pic>
        <p:nvPicPr>
          <p:cNvPr id="4" name="Picture 3">
            <a:extLst>
              <a:ext uri="{FF2B5EF4-FFF2-40B4-BE49-F238E27FC236}">
                <a16:creationId xmlns:a16="http://schemas.microsoft.com/office/drawing/2014/main" id="{AABA7B9D-9195-4AC7-BCB3-9795DD416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203" y="1711483"/>
            <a:ext cx="7575338" cy="1105054"/>
          </a:xfrm>
          <a:prstGeom prst="rect">
            <a:avLst/>
          </a:prstGeom>
        </p:spPr>
      </p:pic>
      <p:pic>
        <p:nvPicPr>
          <p:cNvPr id="12" name="Picture 11">
            <a:extLst>
              <a:ext uri="{FF2B5EF4-FFF2-40B4-BE49-F238E27FC236}">
                <a16:creationId xmlns:a16="http://schemas.microsoft.com/office/drawing/2014/main" id="{6278149D-5CA2-4B77-BFA2-8D78637603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50541" y="3538281"/>
            <a:ext cx="2410161" cy="924054"/>
          </a:xfrm>
          <a:prstGeom prst="rect">
            <a:avLst/>
          </a:prstGeom>
        </p:spPr>
      </p:pic>
    </p:spTree>
    <p:extLst>
      <p:ext uri="{BB962C8B-B14F-4D97-AF65-F5344CB8AC3E}">
        <p14:creationId xmlns:p14="http://schemas.microsoft.com/office/powerpoint/2010/main" val="3672968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Q26. What is the average resolution time for churned vs retained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7709647" cy="129899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0" y="3452193"/>
            <a:ext cx="2599765" cy="1088478"/>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1712261"/>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555875"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Average support resolution time is nearly identical between churned (20.01 </a:t>
            </a:r>
            <a:r>
              <a:rPr lang="en-US" sz="1400" b="1" dirty="0" err="1">
                <a:solidFill>
                  <a:schemeClr val="bg1"/>
                </a:solidFill>
                <a:latin typeface="Arial Black" panose="020B0A04020102020204" pitchFamily="34" charset="0"/>
              </a:rPr>
              <a:t>hrs</a:t>
            </a:r>
            <a:r>
              <a:rPr lang="en-US" sz="1400" b="1" dirty="0">
                <a:solidFill>
                  <a:schemeClr val="bg1"/>
                </a:solidFill>
                <a:latin typeface="Arial Black" panose="020B0A04020102020204" pitchFamily="34" charset="0"/>
              </a:rPr>
              <a:t>) and retained users (19.82 </a:t>
            </a:r>
            <a:r>
              <a:rPr lang="en-US" sz="1400" b="1" dirty="0" err="1">
                <a:solidFill>
                  <a:schemeClr val="bg1"/>
                </a:solidFill>
                <a:latin typeface="Arial Black" panose="020B0A04020102020204" pitchFamily="34" charset="0"/>
              </a:rPr>
              <a:t>hrs</a:t>
            </a:r>
            <a:r>
              <a:rPr lang="en-US" sz="1400" b="1" dirty="0">
                <a:solidFill>
                  <a:schemeClr val="bg1"/>
                </a:solidFill>
                <a:latin typeface="Arial Black" panose="020B0A04020102020204" pitchFamily="34" charset="0"/>
              </a:rPr>
              <a:t>), indicating minimal impact on churn.</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that resolution speed alone is not a primary driver of customer disengagement.</a:t>
            </a:r>
          </a:p>
        </p:txBody>
      </p:sp>
      <p:pic>
        <p:nvPicPr>
          <p:cNvPr id="5" name="Picture 4">
            <a:extLst>
              <a:ext uri="{FF2B5EF4-FFF2-40B4-BE49-F238E27FC236}">
                <a16:creationId xmlns:a16="http://schemas.microsoft.com/office/drawing/2014/main" id="{15E22570-C9EA-41B8-9FAA-853A7B4C37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998" y="1721426"/>
            <a:ext cx="7513683" cy="1057423"/>
          </a:xfrm>
          <a:prstGeom prst="rect">
            <a:avLst/>
          </a:prstGeom>
        </p:spPr>
      </p:pic>
      <p:pic>
        <p:nvPicPr>
          <p:cNvPr id="11" name="Picture 10">
            <a:extLst>
              <a:ext uri="{FF2B5EF4-FFF2-40B4-BE49-F238E27FC236}">
                <a16:creationId xmlns:a16="http://schemas.microsoft.com/office/drawing/2014/main" id="{11ECB4EB-3F71-40B2-990B-F468F928E5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25976" y="3520115"/>
            <a:ext cx="2466778" cy="952633"/>
          </a:xfrm>
          <a:prstGeom prst="rect">
            <a:avLst/>
          </a:prstGeom>
        </p:spPr>
      </p:pic>
    </p:spTree>
    <p:extLst>
      <p:ext uri="{BB962C8B-B14F-4D97-AF65-F5344CB8AC3E}">
        <p14:creationId xmlns:p14="http://schemas.microsoft.com/office/powerpoint/2010/main" val="1231153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Q27. What is the churn rate among users who experienced delayed deliveries?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7709647" cy="129899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1" y="3452193"/>
            <a:ext cx="2519084" cy="904654"/>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1848201"/>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555875"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Users experiencing delivery times above 25 minutes exhibit a higher churn rate (65%) compared to the overall average.</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indicates that delivery delays may contribute meaningfully to customer dissatisfaction and increased churn risk.</a:t>
            </a:r>
          </a:p>
        </p:txBody>
      </p:sp>
      <p:pic>
        <p:nvPicPr>
          <p:cNvPr id="4" name="Picture 3">
            <a:extLst>
              <a:ext uri="{FF2B5EF4-FFF2-40B4-BE49-F238E27FC236}">
                <a16:creationId xmlns:a16="http://schemas.microsoft.com/office/drawing/2014/main" id="{356970CF-1C1B-4667-AF2D-24E0CB3BB2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933" y="1683132"/>
            <a:ext cx="7501643" cy="1131786"/>
          </a:xfrm>
          <a:prstGeom prst="rect">
            <a:avLst/>
          </a:prstGeom>
        </p:spPr>
      </p:pic>
      <p:pic>
        <p:nvPicPr>
          <p:cNvPr id="12" name="Picture 11">
            <a:extLst>
              <a:ext uri="{FF2B5EF4-FFF2-40B4-BE49-F238E27FC236}">
                <a16:creationId xmlns:a16="http://schemas.microsoft.com/office/drawing/2014/main" id="{4412F46B-73FE-4419-85E6-CD8517EE3B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48585" y="3519430"/>
            <a:ext cx="2324424" cy="771633"/>
          </a:xfrm>
          <a:prstGeom prst="rect">
            <a:avLst/>
          </a:prstGeom>
        </p:spPr>
      </p:pic>
    </p:spTree>
    <p:extLst>
      <p:ext uri="{BB962C8B-B14F-4D97-AF65-F5344CB8AC3E}">
        <p14:creationId xmlns:p14="http://schemas.microsoft.com/office/powerpoint/2010/main" val="689379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Q28. How does </a:t>
            </a:r>
            <a:r>
              <a:rPr lang="en-US" dirty="0" err="1">
                <a:ln w="0"/>
                <a:effectLst>
                  <a:outerShdw blurRad="38100" dist="19050" dir="2700000" algn="tl" rotWithShape="0">
                    <a:schemeClr val="dk1">
                      <a:alpha val="40000"/>
                    </a:schemeClr>
                  </a:outerShdw>
                </a:effectLst>
                <a:latin typeface="Arial Black" panose="020B0A04020102020204" pitchFamily="34" charset="0"/>
              </a:rPr>
              <a:t>order_rating</a:t>
            </a:r>
            <a:r>
              <a:rPr lang="en-US" dirty="0">
                <a:ln w="0"/>
                <a:effectLst>
                  <a:outerShdw blurRad="38100" dist="19050" dir="2700000" algn="tl" rotWithShape="0">
                    <a:schemeClr val="dk1">
                      <a:alpha val="40000"/>
                    </a:schemeClr>
                  </a:outerShdw>
                </a:effectLst>
                <a:latin typeface="Arial Black" panose="020B0A04020102020204" pitchFamily="34" charset="0"/>
              </a:rPr>
              <a:t> differ between churned and retained users?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7709647" cy="1298991"/>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1" y="3452193"/>
            <a:ext cx="2519084" cy="1165372"/>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5"/>
            <a:ext cx="5966012" cy="1848201"/>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842746" cy="1384995"/>
          </a:xfrm>
          <a:prstGeom prst="rect">
            <a:avLst/>
          </a:prstGeom>
          <a:noFill/>
        </p:spPr>
        <p:txBody>
          <a:bodyPr wrap="square">
            <a:spAutoFit/>
          </a:bodyPr>
          <a:lstStyle/>
          <a:p>
            <a:r>
              <a:rPr lang="en-US" sz="1400" b="1" dirty="0">
                <a:solidFill>
                  <a:schemeClr val="bg1"/>
                </a:solidFill>
                <a:latin typeface="Arial Black" panose="020B0A04020102020204" pitchFamily="34" charset="0"/>
              </a:rPr>
              <a:t>Churned users exhibit a higher average order rating (3.89) compared to retained users (3.51), indicating that satisfaction scores alone do not prevent churn.</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This suggests that behavioral inactivity and habit decline are stronger churn drivers than customer rating feedback.</a:t>
            </a:r>
          </a:p>
        </p:txBody>
      </p:sp>
      <p:pic>
        <p:nvPicPr>
          <p:cNvPr id="5" name="Picture 4">
            <a:extLst>
              <a:ext uri="{FF2B5EF4-FFF2-40B4-BE49-F238E27FC236}">
                <a16:creationId xmlns:a16="http://schemas.microsoft.com/office/drawing/2014/main" id="{BC20562F-01FA-4AA6-8EE6-6C27CDEBA3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730" y="1697611"/>
            <a:ext cx="7564845" cy="1105054"/>
          </a:xfrm>
          <a:prstGeom prst="rect">
            <a:avLst/>
          </a:prstGeom>
        </p:spPr>
      </p:pic>
      <p:pic>
        <p:nvPicPr>
          <p:cNvPr id="11" name="Picture 10">
            <a:extLst>
              <a:ext uri="{FF2B5EF4-FFF2-40B4-BE49-F238E27FC236}">
                <a16:creationId xmlns:a16="http://schemas.microsoft.com/office/drawing/2014/main" id="{2FA5B29D-BD01-4A31-A457-E3CFA5C562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72123" y="3525220"/>
            <a:ext cx="2286319" cy="1019317"/>
          </a:xfrm>
          <a:prstGeom prst="rect">
            <a:avLst/>
          </a:prstGeom>
        </p:spPr>
      </p:pic>
    </p:spTree>
    <p:extLst>
      <p:ext uri="{BB962C8B-B14F-4D97-AF65-F5344CB8AC3E}">
        <p14:creationId xmlns:p14="http://schemas.microsoft.com/office/powerpoint/2010/main" val="243425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C67EDD-F811-4B8D-AD11-CB4696C37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6589" y="5692589"/>
            <a:ext cx="1165412" cy="1165412"/>
          </a:xfrm>
          <a:prstGeom prst="rect">
            <a:avLst/>
          </a:prstGeom>
        </p:spPr>
      </p:pic>
      <p:sp>
        <p:nvSpPr>
          <p:cNvPr id="3" name="Rectangle: Rounded Corners 2">
            <a:extLst>
              <a:ext uri="{FF2B5EF4-FFF2-40B4-BE49-F238E27FC236}">
                <a16:creationId xmlns:a16="http://schemas.microsoft.com/office/drawing/2014/main" id="{CFE68EE1-8368-4590-8A22-CB1CBA588CDF}"/>
              </a:ext>
            </a:extLst>
          </p:cNvPr>
          <p:cNvSpPr/>
          <p:nvPr/>
        </p:nvSpPr>
        <p:spPr>
          <a:xfrm>
            <a:off x="2169459" y="233080"/>
            <a:ext cx="7539317" cy="681256"/>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endParaRPr lang="en-US" dirty="0">
              <a:solidFill>
                <a:srgbClr val="FF0000"/>
              </a:solidFill>
            </a:endParaRPr>
          </a:p>
        </p:txBody>
      </p:sp>
      <p:pic>
        <p:nvPicPr>
          <p:cNvPr id="7" name="Picture 6">
            <a:extLst>
              <a:ext uri="{FF2B5EF4-FFF2-40B4-BE49-F238E27FC236}">
                <a16:creationId xmlns:a16="http://schemas.microsoft.com/office/drawing/2014/main" id="{82BC913C-B1E0-4EE5-88FF-FE949D24A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59" y="-215155"/>
            <a:ext cx="1165412" cy="1165412"/>
          </a:xfrm>
          <a:prstGeom prst="rect">
            <a:avLst/>
          </a:prstGeom>
        </p:spPr>
      </p:pic>
      <p:sp>
        <p:nvSpPr>
          <p:cNvPr id="10" name="TextBox 9">
            <a:extLst>
              <a:ext uri="{FF2B5EF4-FFF2-40B4-BE49-F238E27FC236}">
                <a16:creationId xmlns:a16="http://schemas.microsoft.com/office/drawing/2014/main" id="{24D1E7E1-BF2D-4296-B519-6AB439B0653D}"/>
              </a:ext>
            </a:extLst>
          </p:cNvPr>
          <p:cNvSpPr txBox="1"/>
          <p:nvPr/>
        </p:nvSpPr>
        <p:spPr>
          <a:xfrm>
            <a:off x="2268070" y="268005"/>
            <a:ext cx="7440705" cy="646331"/>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latin typeface="Arial Black" panose="020B0A04020102020204" pitchFamily="34" charset="0"/>
              </a:rPr>
              <a:t>Q29. Among High-Risk users, what percentage have experience-related issues?</a:t>
            </a:r>
          </a:p>
        </p:txBody>
      </p:sp>
      <p:sp>
        <p:nvSpPr>
          <p:cNvPr id="8" name="Rectangle: Rounded Corners 7">
            <a:extLst>
              <a:ext uri="{FF2B5EF4-FFF2-40B4-BE49-F238E27FC236}">
                <a16:creationId xmlns:a16="http://schemas.microsoft.com/office/drawing/2014/main" id="{462BB613-2A65-4885-B68F-DAEB1BD6E315}"/>
              </a:ext>
            </a:extLst>
          </p:cNvPr>
          <p:cNvSpPr/>
          <p:nvPr/>
        </p:nvSpPr>
        <p:spPr>
          <a:xfrm>
            <a:off x="860612" y="1605573"/>
            <a:ext cx="7709647" cy="2025133"/>
          </a:xfrm>
          <a:prstGeom prst="roundRect">
            <a:avLst>
              <a:gd name="adj" fmla="val 6243"/>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25489B35-B517-4E65-846E-BC6210825D3B}"/>
              </a:ext>
            </a:extLst>
          </p:cNvPr>
          <p:cNvSpPr/>
          <p:nvPr/>
        </p:nvSpPr>
        <p:spPr>
          <a:xfrm>
            <a:off x="8955741" y="3452193"/>
            <a:ext cx="2519084" cy="940513"/>
          </a:xfrm>
          <a:prstGeom prst="roundRect">
            <a:avLst>
              <a:gd name="adj" fmla="val 9882"/>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65D06CF-DD6E-4008-9CD4-A0161230860C}"/>
              </a:ext>
            </a:extLst>
          </p:cNvPr>
          <p:cNvSpPr/>
          <p:nvPr/>
        </p:nvSpPr>
        <p:spPr>
          <a:xfrm>
            <a:off x="1053353" y="4204446"/>
            <a:ext cx="5966012" cy="1703296"/>
          </a:xfrm>
          <a:prstGeom prst="roundRect">
            <a:avLst>
              <a:gd name="adj" fmla="val 8648"/>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D6F3B7-00CE-43A5-82C4-840FF9A5370F}"/>
              </a:ext>
            </a:extLst>
          </p:cNvPr>
          <p:cNvSpPr txBox="1"/>
          <p:nvPr/>
        </p:nvSpPr>
        <p:spPr>
          <a:xfrm>
            <a:off x="1176619" y="4217455"/>
            <a:ext cx="1566583" cy="400110"/>
          </a:xfrm>
          <a:prstGeom prst="rect">
            <a:avLst/>
          </a:prstGeom>
          <a:noFill/>
        </p:spPr>
        <p:txBody>
          <a:bodyPr wrap="square">
            <a:spAutoFit/>
          </a:bodyPr>
          <a:lstStyle/>
          <a:p>
            <a:r>
              <a:rPr lang="en-US" sz="2000" b="1" dirty="0">
                <a:solidFill>
                  <a:schemeClr val="bg1"/>
                </a:solidFill>
                <a:latin typeface="Arial Black" panose="020B0A04020102020204" pitchFamily="34" charset="0"/>
              </a:rPr>
              <a:t>Insight :- </a:t>
            </a:r>
          </a:p>
        </p:txBody>
      </p:sp>
      <p:sp>
        <p:nvSpPr>
          <p:cNvPr id="18" name="TextBox 17">
            <a:extLst>
              <a:ext uri="{FF2B5EF4-FFF2-40B4-BE49-F238E27FC236}">
                <a16:creationId xmlns:a16="http://schemas.microsoft.com/office/drawing/2014/main" id="{F95471A3-841D-4770-BB2C-B089666DDCCB}"/>
              </a:ext>
            </a:extLst>
          </p:cNvPr>
          <p:cNvSpPr txBox="1"/>
          <p:nvPr/>
        </p:nvSpPr>
        <p:spPr>
          <a:xfrm>
            <a:off x="1176619" y="4667651"/>
            <a:ext cx="5842746" cy="1169551"/>
          </a:xfrm>
          <a:prstGeom prst="rect">
            <a:avLst/>
          </a:prstGeom>
          <a:noFill/>
        </p:spPr>
        <p:txBody>
          <a:bodyPr wrap="square">
            <a:spAutoFit/>
          </a:bodyPr>
          <a:lstStyle/>
          <a:p>
            <a:r>
              <a:rPr lang="en-US" sz="1400" b="1" dirty="0">
                <a:solidFill>
                  <a:schemeClr val="bg1"/>
                </a:solidFill>
                <a:latin typeface="Arial Black" panose="020B0A04020102020204" pitchFamily="34" charset="0"/>
              </a:rPr>
              <a:t>Over 54% of High-Risk users have experienced at least one support issue, suggesting that service friction may contribute to churn vulnerability.</a:t>
            </a:r>
            <a:br>
              <a:rPr lang="en-US" sz="1400" b="1" dirty="0">
                <a:solidFill>
                  <a:schemeClr val="bg1"/>
                </a:solidFill>
                <a:latin typeface="Arial Black" panose="020B0A04020102020204" pitchFamily="34" charset="0"/>
              </a:rPr>
            </a:br>
            <a:r>
              <a:rPr lang="en-US" sz="1400" b="1" dirty="0">
                <a:solidFill>
                  <a:schemeClr val="bg1"/>
                </a:solidFill>
                <a:latin typeface="Arial Black" panose="020B0A04020102020204" pitchFamily="34" charset="0"/>
              </a:rPr>
              <a:t>Improving issue prevention and resolution quality within this segment could help reduce churn escalation.</a:t>
            </a:r>
          </a:p>
        </p:txBody>
      </p:sp>
      <p:pic>
        <p:nvPicPr>
          <p:cNvPr id="4" name="Picture 3">
            <a:extLst>
              <a:ext uri="{FF2B5EF4-FFF2-40B4-BE49-F238E27FC236}">
                <a16:creationId xmlns:a16="http://schemas.microsoft.com/office/drawing/2014/main" id="{4A62D1BC-1978-4141-BD3A-4C7DE6961E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381" y="1677354"/>
            <a:ext cx="7458444" cy="1876687"/>
          </a:xfrm>
          <a:prstGeom prst="rect">
            <a:avLst/>
          </a:prstGeom>
        </p:spPr>
      </p:pic>
      <p:pic>
        <p:nvPicPr>
          <p:cNvPr id="12" name="Picture 11">
            <a:extLst>
              <a:ext uri="{FF2B5EF4-FFF2-40B4-BE49-F238E27FC236}">
                <a16:creationId xmlns:a16="http://schemas.microsoft.com/office/drawing/2014/main" id="{80D2A1CC-B6CC-4727-9184-16EB8CE824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33297" y="3536871"/>
            <a:ext cx="2333951" cy="724001"/>
          </a:xfrm>
          <a:prstGeom prst="rect">
            <a:avLst/>
          </a:prstGeom>
        </p:spPr>
      </p:pic>
    </p:spTree>
    <p:extLst>
      <p:ext uri="{BB962C8B-B14F-4D97-AF65-F5344CB8AC3E}">
        <p14:creationId xmlns:p14="http://schemas.microsoft.com/office/powerpoint/2010/main" val="563942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0416D3D-A350-4AF4-BE11-D5F457999C76}"/>
              </a:ext>
            </a:extLst>
          </p:cNvPr>
          <p:cNvSpPr txBox="1"/>
          <p:nvPr/>
        </p:nvSpPr>
        <p:spPr>
          <a:xfrm>
            <a:off x="3254189" y="169440"/>
            <a:ext cx="6096000" cy="523220"/>
          </a:xfrm>
          <a:prstGeom prst="rect">
            <a:avLst/>
          </a:prstGeom>
          <a:noFill/>
        </p:spPr>
        <p:txBody>
          <a:bodyPr wrap="square">
            <a:spAutoFit/>
          </a:bodyPr>
          <a:lstStyle/>
          <a:p>
            <a:r>
              <a:rPr lang="en-US" sz="2800" b="1" dirty="0">
                <a:solidFill>
                  <a:schemeClr val="bg1"/>
                </a:solidFill>
                <a:latin typeface="Arial Black" panose="020B0A04020102020204" pitchFamily="34" charset="0"/>
              </a:rPr>
              <a:t>Business Recommendations</a:t>
            </a:r>
          </a:p>
        </p:txBody>
      </p:sp>
      <p:pic>
        <p:nvPicPr>
          <p:cNvPr id="6" name="Picture 5">
            <a:extLst>
              <a:ext uri="{FF2B5EF4-FFF2-40B4-BE49-F238E27FC236}">
                <a16:creationId xmlns:a16="http://schemas.microsoft.com/office/drawing/2014/main" id="{DCB0A606-C67F-4204-90CD-9801110E63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52564"/>
            <a:ext cx="1502198" cy="905435"/>
          </a:xfrm>
          <a:prstGeom prst="rect">
            <a:avLst/>
          </a:prstGeom>
        </p:spPr>
      </p:pic>
      <p:sp>
        <p:nvSpPr>
          <p:cNvPr id="19" name="TextBox 18">
            <a:extLst>
              <a:ext uri="{FF2B5EF4-FFF2-40B4-BE49-F238E27FC236}">
                <a16:creationId xmlns:a16="http://schemas.microsoft.com/office/drawing/2014/main" id="{31C70235-08F0-4089-BF29-3B6CA6EF6C5D}"/>
              </a:ext>
            </a:extLst>
          </p:cNvPr>
          <p:cNvSpPr txBox="1"/>
          <p:nvPr/>
        </p:nvSpPr>
        <p:spPr>
          <a:xfrm>
            <a:off x="1358153" y="782307"/>
            <a:ext cx="10098741" cy="5632311"/>
          </a:xfrm>
          <a:prstGeom prst="rect">
            <a:avLst/>
          </a:prstGeom>
          <a:noFill/>
        </p:spPr>
        <p:txBody>
          <a:bodyPr wrap="square">
            <a:spAutoFit/>
          </a:bodyPr>
          <a:lstStyle/>
          <a:p>
            <a:pPr>
              <a:buFont typeface="Arial" panose="020B0604020202020204" pitchFamily="34" charset="0"/>
              <a:buChar char="•"/>
            </a:pPr>
            <a:r>
              <a:rPr lang="en-US" b="1" dirty="0">
                <a:solidFill>
                  <a:schemeClr val="bg1"/>
                </a:solidFill>
                <a:latin typeface="Arial Black" panose="020B0A04020102020204" pitchFamily="34" charset="0"/>
              </a:rPr>
              <a:t> Increase monthly order frequency through habit-forming programs (streak         rewards, subscription bundles, repeat-order incentives).</a:t>
            </a:r>
          </a:p>
          <a:p>
            <a:endParaRPr lang="en-US"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latin typeface="Arial Black" panose="020B0A04020102020204" pitchFamily="34" charset="0"/>
              </a:rPr>
              <a:t> Launch targeted rescue campaigns for High-Value High-Risk users to protect premium revenue.</a:t>
            </a:r>
          </a:p>
          <a:p>
            <a:endParaRPr lang="en-US"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latin typeface="Arial Black" panose="020B0A04020102020204" pitchFamily="34" charset="0"/>
              </a:rPr>
              <a:t> Improve delivery SLA performance and reduce orders exceeding 25 minutes  to lower operational churn impact.</a:t>
            </a:r>
          </a:p>
          <a:p>
            <a:endParaRPr lang="en-US"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latin typeface="Arial Black" panose="020B0A04020102020204" pitchFamily="34" charset="0"/>
              </a:rPr>
              <a:t> Deploy proactive retention nudges for Medium-Risk users (25–30 days  inactivity window).</a:t>
            </a:r>
          </a:p>
          <a:p>
            <a:endParaRPr lang="en-US"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latin typeface="Arial Black" panose="020B0A04020102020204" pitchFamily="34" charset="0"/>
              </a:rPr>
              <a:t> Strengthen first 30-day onboarding with structured incentives to reduce early lifecycle churn (28% early churn observed).</a:t>
            </a:r>
          </a:p>
          <a:p>
            <a:endParaRPr lang="en-US"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latin typeface="Arial Black" panose="020B0A04020102020204" pitchFamily="34" charset="0"/>
              </a:rPr>
              <a:t> Implement real-time churn alert dashboard based on order frequency decline and recency signals.</a:t>
            </a:r>
          </a:p>
          <a:p>
            <a:endParaRPr lang="en-US" b="1" dirty="0">
              <a:solidFill>
                <a:schemeClr val="bg1"/>
              </a:solidFill>
              <a:latin typeface="Arial Black" panose="020B0A04020102020204" pitchFamily="34" charset="0"/>
            </a:endParaRPr>
          </a:p>
          <a:p>
            <a:pPr>
              <a:buFont typeface="Arial" panose="020B0604020202020204" pitchFamily="34" charset="0"/>
              <a:buChar char="•"/>
            </a:pPr>
            <a:r>
              <a:rPr lang="en-US" b="1" dirty="0">
                <a:solidFill>
                  <a:schemeClr val="bg1"/>
                </a:solidFill>
                <a:latin typeface="Arial Black" panose="020B0A04020102020204" pitchFamily="34" charset="0"/>
              </a:rPr>
              <a:t> Focus retention strategy at city level (Mumbai &amp; top revenue-loss cities) to reduce concentrated revenue leakage.</a:t>
            </a:r>
          </a:p>
        </p:txBody>
      </p:sp>
    </p:spTree>
    <p:extLst>
      <p:ext uri="{BB962C8B-B14F-4D97-AF65-F5344CB8AC3E}">
        <p14:creationId xmlns:p14="http://schemas.microsoft.com/office/powerpoint/2010/main" val="1881914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381850"/>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0416D3D-A350-4AF4-BE11-D5F457999C76}"/>
              </a:ext>
            </a:extLst>
          </p:cNvPr>
          <p:cNvSpPr txBox="1"/>
          <p:nvPr/>
        </p:nvSpPr>
        <p:spPr>
          <a:xfrm>
            <a:off x="3254189" y="169440"/>
            <a:ext cx="6096000" cy="523220"/>
          </a:xfrm>
          <a:prstGeom prst="rect">
            <a:avLst/>
          </a:prstGeom>
          <a:noFill/>
        </p:spPr>
        <p:txBody>
          <a:bodyPr wrap="square">
            <a:spAutoFit/>
          </a:bodyPr>
          <a:lstStyle/>
          <a:p>
            <a:pPr algn="ctr"/>
            <a:r>
              <a:rPr lang="en-US" sz="2800" b="1" dirty="0">
                <a:solidFill>
                  <a:schemeClr val="bg1"/>
                </a:solidFill>
                <a:latin typeface="Arial Black" panose="020B0A04020102020204" pitchFamily="34" charset="0"/>
              </a:rPr>
              <a:t>Conclusion</a:t>
            </a:r>
          </a:p>
        </p:txBody>
      </p:sp>
      <p:pic>
        <p:nvPicPr>
          <p:cNvPr id="6" name="Picture 5">
            <a:extLst>
              <a:ext uri="{FF2B5EF4-FFF2-40B4-BE49-F238E27FC236}">
                <a16:creationId xmlns:a16="http://schemas.microsoft.com/office/drawing/2014/main" id="{DCB0A606-C67F-4204-90CD-9801110E63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52564"/>
            <a:ext cx="1502198" cy="905435"/>
          </a:xfrm>
          <a:prstGeom prst="rect">
            <a:avLst/>
          </a:prstGeom>
        </p:spPr>
      </p:pic>
      <p:sp>
        <p:nvSpPr>
          <p:cNvPr id="7" name="TextBox 6">
            <a:extLst>
              <a:ext uri="{FF2B5EF4-FFF2-40B4-BE49-F238E27FC236}">
                <a16:creationId xmlns:a16="http://schemas.microsoft.com/office/drawing/2014/main" id="{E60D844A-FDC6-4FBF-91E1-2CA5F653FF87}"/>
              </a:ext>
            </a:extLst>
          </p:cNvPr>
          <p:cNvSpPr txBox="1"/>
          <p:nvPr/>
        </p:nvSpPr>
        <p:spPr>
          <a:xfrm>
            <a:off x="751100" y="1369909"/>
            <a:ext cx="10470776" cy="4247317"/>
          </a:xfrm>
          <a:prstGeom prst="rect">
            <a:avLst/>
          </a:prstGeom>
          <a:noFill/>
        </p:spPr>
        <p:txBody>
          <a:bodyPr wrap="square">
            <a:spAutoFit/>
          </a:bodyPr>
          <a:lstStyle/>
          <a:p>
            <a:r>
              <a:rPr lang="en-US" b="1" dirty="0">
                <a:solidFill>
                  <a:schemeClr val="bg1"/>
                </a:solidFill>
                <a:latin typeface="Arial Black" panose="020B0A04020102020204" pitchFamily="34" charset="0"/>
              </a:rPr>
              <a:t>The churn analysis reveals that customer attrition is primarily driven by behavioral inactivity rather than satisfaction or support-related issues. A significant 63% of users fall into the High-Risk segment, contributing to over 58% of total revenue at risk.</a:t>
            </a:r>
          </a:p>
          <a:p>
            <a:endParaRPr lang="en-US" b="1" dirty="0">
              <a:solidFill>
                <a:schemeClr val="bg1"/>
              </a:solidFill>
              <a:latin typeface="Arial Black" panose="020B0A04020102020204" pitchFamily="34" charset="0"/>
            </a:endParaRPr>
          </a:p>
          <a:p>
            <a:r>
              <a:rPr lang="en-US" b="1" dirty="0">
                <a:solidFill>
                  <a:schemeClr val="bg1"/>
                </a:solidFill>
                <a:latin typeface="Arial Black" panose="020B0A04020102020204" pitchFamily="34" charset="0"/>
              </a:rPr>
              <a:t>Order frequency decline emerged as the strongest predictor of churn, while delivery delays showed moderate impact. Engagement score, support ticket volume, resolution time, and order ratings demonstrated minimal influence on churn probability.</a:t>
            </a:r>
          </a:p>
          <a:p>
            <a:endParaRPr lang="en-US" b="1" dirty="0">
              <a:solidFill>
                <a:schemeClr val="bg1"/>
              </a:solidFill>
              <a:latin typeface="Arial Black" panose="020B0A04020102020204" pitchFamily="34" charset="0"/>
            </a:endParaRPr>
          </a:p>
          <a:p>
            <a:r>
              <a:rPr lang="en-US" b="1" dirty="0">
                <a:solidFill>
                  <a:schemeClr val="bg1"/>
                </a:solidFill>
                <a:latin typeface="Arial Black" panose="020B0A04020102020204" pitchFamily="34" charset="0"/>
              </a:rPr>
              <a:t>The findings indicate that retention strategy should shift from reactive support improvements to proactive behavioral habit formation, delivery optimization, and early lifecycle intervention. By focusing on frequency enhancement and high-value user protection, the business can significantly reduce revenue leakage and strengthen long-term customer retention.</a:t>
            </a:r>
          </a:p>
        </p:txBody>
      </p:sp>
    </p:spTree>
    <p:extLst>
      <p:ext uri="{BB962C8B-B14F-4D97-AF65-F5344CB8AC3E}">
        <p14:creationId xmlns:p14="http://schemas.microsoft.com/office/powerpoint/2010/main" val="33239891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Ion Boardroom</Template>
  <TotalTime>324</TotalTime>
  <Words>2038</Words>
  <Application>Microsoft Office PowerPoint</Application>
  <PresentationFormat>Widescreen</PresentationFormat>
  <Paragraphs>157</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Arial Black</vt:lpstr>
      <vt:lpstr>Candara</vt:lpstr>
      <vt:lpstr>Century Gothic</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Abhi chouhan</dc:creator>
  <cp:lastModifiedBy>Abhi chouhan</cp:lastModifiedBy>
  <cp:revision>42</cp:revision>
  <dcterms:created xsi:type="dcterms:W3CDTF">2026-02-14T16:12:28Z</dcterms:created>
  <dcterms:modified xsi:type="dcterms:W3CDTF">2026-02-16T13:37:10Z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